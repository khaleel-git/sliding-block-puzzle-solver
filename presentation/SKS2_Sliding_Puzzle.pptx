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theme/theme2.xml" ContentType="application/vnd.openxmlformats-officedocument.theme+xml"/>
  <Override PartName="/ppt/slideLayouts/_rels/slideLayout1.xml.rels" ContentType="application/vnd.openxmlformats-package.relationships+xml"/>
  <Override PartName="/ppt/slideLayouts/slideLayout1.xml" ContentType="application/vnd.openxmlformats-officedocument.presentationml.slideLayout+xml"/>
  <Override PartName="/ppt/_rels/presentation.xml.rels" ContentType="application/vnd.openxmlformats-package.relationships+xml"/>
  <Override PartName="/ppt/notesMasters/_rels/notesMaster1.xml.rels" ContentType="application/vnd.openxmlformats-package.relationships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s/_rels/slide8.xml.rels" ContentType="application/vnd.openxmlformats-package.relationships+xml"/>
  <Override PartName="/ppt/slides/_rels/slide7.xml.rels" ContentType="application/vnd.openxmlformats-package.relationships+xml"/>
  <Override PartName="/ppt/slides/_rels/slide6.xml.rels" ContentType="application/vnd.openxmlformats-package.relationships+xml"/>
  <Override PartName="/ppt/slides/_rels/slide5.xml.rels" ContentType="application/vnd.openxmlformats-package.relationships+xml"/>
  <Override PartName="/ppt/slides/_rels/slide4.xml.rels" ContentType="application/vnd.openxmlformats-package.relationships+xml"/>
  <Override PartName="/ppt/slides/_rels/slide3.xml.rels" ContentType="application/vnd.openxmlformats-package.relationships+xml"/>
  <Override PartName="/ppt/slides/_rels/slide2.xml.rels" ContentType="application/vnd.openxmlformats-package.relationships+xml"/>
  <Override PartName="/ppt/slides/_rels/slide1.xml.rels" ContentType="application/vnd.openxmlformats-package.relationships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Slides/_rels/notesSlide8.xml.rels" ContentType="application/vnd.openxmlformats-package.relationships+xml"/>
  <Override PartName="/ppt/notesSlides/_rels/notesSlide7.xml.rels" ContentType="application/vnd.openxmlformats-package.relationships+xml"/>
  <Override PartName="/ppt/notesSlides/_rels/notesSlide6.xml.rels" ContentType="application/vnd.openxmlformats-package.relationships+xml"/>
  <Override PartName="/ppt/notesSlides/_rels/notesSlide5.xml.rels" ContentType="application/vnd.openxmlformats-package.relationships+xml"/>
  <Override PartName="/ppt/notesSlides/_rels/notesSlide4.xml.rels" ContentType="application/vnd.openxmlformats-package.relationships+xml"/>
  <Override PartName="/ppt/notesSlides/_rels/notesSlide3.xml.rels" ContentType="application/vnd.openxmlformats-package.relationships+xml"/>
  <Override PartName="/ppt/notesSlides/_rels/notesSlide2.xml.rels" ContentType="application/vnd.openxmlformats-package.relationships+xml"/>
  <Override PartName="/ppt/notesSlides/_rels/notesSlide1.xml.rels" ContentType="application/vnd.openxmlformats-package.relationships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</p:sldIdLst>
  <p:sldSz cx="9144000" cy="5143500"/>
  <p:notesSz cx="51435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move the </a:t>
            </a: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slide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C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l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i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c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k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 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t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o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 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e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d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i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t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 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t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h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e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 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n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o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t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e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 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o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r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m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a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t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&lt;header&gt;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fld id="{A3C7094C-67C1-420C-B0C6-1DCBA5A016E7}" type="slidenum"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&lt;number&gt;</a:t>
            </a:fld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262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T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itl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e 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sl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i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d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e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. 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M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e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n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ti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o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n 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t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h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is 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is 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K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2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.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1 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fr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o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m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 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P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r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o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f. 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W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o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lf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f'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 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e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m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i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n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a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r 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C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o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g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n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iti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v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e 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y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t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e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m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 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2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3" name="PlaceHolder 3"/>
          <p:cNvSpPr>
            <a:spLocks noGrp="1"/>
          </p:cNvSpPr>
          <p:nvPr>
            <p:ph type="sldNum" idx="4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8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76D79EAD-F4F0-4E09-BD27-D5605E0ACBE1}" type="slidenum">
              <a:rPr b="0" lang="en-US" sz="18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8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265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E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x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p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l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a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i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n 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t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h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e 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p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u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z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zl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e 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e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t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u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p 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fr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o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m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 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t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h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e 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a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g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n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m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e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n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t 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h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e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e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t. 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H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i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g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h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li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g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h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t 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t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h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a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t 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t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h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e 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b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l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a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n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k 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is 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i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n 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t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h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e 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b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o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tt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o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m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-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ri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g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h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t 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o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 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t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a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rt 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a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n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d 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t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o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p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-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ri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g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h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t 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o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 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t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a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r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g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e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t. 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B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o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t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h 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m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u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t 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c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o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u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n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t 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a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n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d 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d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is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p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l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a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y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: 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e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x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p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a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n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o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n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, 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m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a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x 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m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e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m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o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r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y 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n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o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d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e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, 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m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o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v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e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6" name="PlaceHolder 3"/>
          <p:cNvSpPr>
            <a:spLocks noGrp="1"/>
          </p:cNvSpPr>
          <p:nvPr>
            <p:ph type="sldNum" idx="5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8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C5D7C6EA-D39E-4CA8-9F62-5B42665B1E20}" type="slidenum">
              <a:rPr b="0" lang="en-US" sz="18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8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6920" cy="4008600"/>
          </a:xfrm>
          <a:prstGeom prst="rect">
            <a:avLst/>
          </a:prstGeom>
          <a:ln w="0">
            <a:noFill/>
          </a:ln>
        </p:spPr>
      </p:sp>
      <p:sp>
        <p:nvSpPr>
          <p:cNvPr id="268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280" cy="48106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BFS explores the 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tree level by level. 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Since every move 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costs 1, BFS is 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optimal. The 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tradeoff is memory 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— at depth 26 the 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frontier can be 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huge.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9" name="PlaceHolder 3"/>
          <p:cNvSpPr>
            <a:spLocks noGrp="1"/>
          </p:cNvSpPr>
          <p:nvPr>
            <p:ph type="sldNum" idx="6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8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24FE0C1B-44E1-4C7D-9648-808A38B4A76F}" type="slidenum">
              <a:rPr b="0" lang="en-US" sz="18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8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0" name="PlaceHolder 1"/>
          <p:cNvSpPr>
            <a:spLocks noGrp="1"/>
          </p:cNvSpPr>
          <p:nvPr>
            <p:ph type="sldImg"/>
          </p:nvPr>
        </p:nvSpPr>
        <p:spPr>
          <a:xfrm>
            <a:off x="-360" y="-360"/>
            <a:ext cx="360" cy="360"/>
          </a:xfrm>
          <a:prstGeom prst="rect">
            <a:avLst/>
          </a:prstGeom>
          <a:ln w="0">
            <a:noFill/>
          </a:ln>
        </p:spPr>
      </p:sp>
      <p:sp>
        <p:nvSpPr>
          <p:cNvPr id="271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A* orders the frontier by f(n) = g(n) + 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h(n). With an admissible heuristic it is 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optimal. Our heuristic is Manhattan 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distance.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2" name="PlaceHolder 3"/>
          <p:cNvSpPr>
            <a:spLocks noGrp="1"/>
          </p:cNvSpPr>
          <p:nvPr>
            <p:ph type="sldNum" idx="7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8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593FBEE3-6455-4262-B163-E34E12E915ED}" type="slidenum">
              <a:rPr b="0" lang="en-US" sz="18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8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3" name="PlaceHolder 1"/>
          <p:cNvSpPr>
            <a:spLocks noGrp="1"/>
          </p:cNvSpPr>
          <p:nvPr>
            <p:ph type="sldImg"/>
          </p:nvPr>
        </p:nvSpPr>
        <p:spPr>
          <a:xfrm>
            <a:off x="-360" y="-360"/>
            <a:ext cx="360" cy="360"/>
          </a:xfrm>
          <a:prstGeom prst="rect">
            <a:avLst/>
          </a:prstGeom>
          <a:ln w="0">
            <a:noFill/>
          </a:ln>
        </p:spPr>
      </p:sp>
      <p:sp>
        <p:nvSpPr>
          <p:cNvPr id="274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W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a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lk 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t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h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r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o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u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g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h 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t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h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e 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M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a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n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h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a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tt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a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n 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d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is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t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a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n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c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e 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o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r 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til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e 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8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. 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T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o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t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a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l 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h 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o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r 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t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h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e 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t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a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rt 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t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a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t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e 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is 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t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h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e 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u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m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 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a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c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r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o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 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a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ll 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8 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til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e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. 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A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d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m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is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b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ili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t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y 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p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r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o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o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f: 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e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a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c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h 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n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g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l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e 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m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o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v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e 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r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e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d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u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c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e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 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o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n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e 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til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e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's 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M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a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n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h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a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tt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a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n 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d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is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t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a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n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c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e 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b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y 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a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t 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m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o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t 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1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5" name="PlaceHolder 3"/>
          <p:cNvSpPr>
            <a:spLocks noGrp="1"/>
          </p:cNvSpPr>
          <p:nvPr>
            <p:ph type="sldNum" idx="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8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17647194-4C4F-4756-8ECF-C8CA8D4C27E9}" type="slidenum">
              <a:rPr b="0" lang="en-US" sz="18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8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PlaceHolder 1"/>
          <p:cNvSpPr>
            <a:spLocks noGrp="1"/>
          </p:cNvSpPr>
          <p:nvPr>
            <p:ph type="sldImg"/>
          </p:nvPr>
        </p:nvSpPr>
        <p:spPr>
          <a:xfrm>
            <a:off x="-360" y="-360"/>
            <a:ext cx="360" cy="360"/>
          </a:xfrm>
          <a:prstGeom prst="rect">
            <a:avLst/>
          </a:prstGeom>
          <a:ln w="0">
            <a:noFill/>
          </a:ln>
        </p:spPr>
      </p:sp>
      <p:sp>
        <p:nvSpPr>
          <p:cNvPr id="277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R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e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a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d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 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o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u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t 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t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h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e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 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n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u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m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b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e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r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. 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t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r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e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: 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b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o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t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h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 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i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n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d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 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o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p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t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i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m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a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l 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2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6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-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m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o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v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e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 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o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l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u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t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i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o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n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, 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b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u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t 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A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*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 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d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o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e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 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i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t 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w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i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t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h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 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8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8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 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e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x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p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a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n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i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o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n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 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v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 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1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6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0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,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1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4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7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 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o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r 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B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. 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T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h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e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 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h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e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u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r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i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t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i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c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 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g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u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i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d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e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 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A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*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 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a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n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d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 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a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v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o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i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d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 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e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x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p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l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o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r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i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n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g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 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t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h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e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 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b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u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l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k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 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o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 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t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h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e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 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e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a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r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c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h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 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p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a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c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e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8" name="PlaceHolder 3"/>
          <p:cNvSpPr>
            <a:spLocks noGrp="1"/>
          </p:cNvSpPr>
          <p:nvPr>
            <p:ph type="sldNum" idx="9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8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57ADE23D-2789-4308-8417-2D932730FA19}" type="slidenum">
              <a:rPr b="0" lang="en-US" sz="18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8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280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T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h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i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 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i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 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t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h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e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 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c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o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r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e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 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d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i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c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u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i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o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n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 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l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i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d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e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. 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E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m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p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h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a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i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z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e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 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t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h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a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t 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t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h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e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 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h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e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u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r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i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t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i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c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 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a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c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t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 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a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 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a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 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"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c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o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m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p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a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"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 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—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 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B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 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t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u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m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b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l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e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 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i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n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 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t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h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e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 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d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a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r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k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 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w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h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i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l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e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 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A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*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 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w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a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l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k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 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c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o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n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i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d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e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n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t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l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y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 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t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o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w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a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r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d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 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t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h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e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 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g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o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a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l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1" name="PlaceHolder 3"/>
          <p:cNvSpPr>
            <a:spLocks noGrp="1"/>
          </p:cNvSpPr>
          <p:nvPr>
            <p:ph type="sldNum" idx="10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8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91912F03-A4BD-4EB1-A103-7F58E4EE4C33}" type="slidenum">
              <a:rPr b="0" lang="en-US" sz="18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8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PlaceHolder 1"/>
          <p:cNvSpPr>
            <a:spLocks noGrp="1"/>
          </p:cNvSpPr>
          <p:nvPr>
            <p:ph type="sldImg"/>
          </p:nvPr>
        </p:nvSpPr>
        <p:spPr>
          <a:xfrm>
            <a:off x="-360" y="-360"/>
            <a:ext cx="360" cy="360"/>
          </a:xfrm>
          <a:prstGeom prst="rect">
            <a:avLst/>
          </a:prstGeom>
          <a:ln w="0">
            <a:noFill/>
          </a:ln>
        </p:spPr>
      </p:sp>
      <p:sp>
        <p:nvSpPr>
          <p:cNvPr id="283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C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o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n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c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l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u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d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e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 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b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y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 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u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m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m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a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r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i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z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i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n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g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 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t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h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e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 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k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e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y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 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t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a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k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e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a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w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a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y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: 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h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e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u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r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i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t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i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c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 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m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a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k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e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 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t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h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e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 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d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i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e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r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e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n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c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e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. 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A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*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 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i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 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a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 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b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e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t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t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e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r 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c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h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o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i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c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e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 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w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h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e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n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 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a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 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g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o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o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d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 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a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d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m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i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i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b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l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e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 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h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e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u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r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i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t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i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c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 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i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 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a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v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a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i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l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a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b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l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e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. 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O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p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e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n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 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t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h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e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 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l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o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o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r 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o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r 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q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u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e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t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i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o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n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4" name="PlaceHolder 3"/>
          <p:cNvSpPr>
            <a:spLocks noGrp="1"/>
          </p:cNvSpPr>
          <p:nvPr>
            <p:ph type="sldNum" idx="11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8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DB9F4E71-7472-4E1E-8CB7-B0A08340B617}" type="slidenum">
              <a:rPr b="0" lang="en-US" sz="18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8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</a:t>
            </a: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hape 0"/>
          <p:cNvSpPr/>
          <p:nvPr/>
        </p:nvSpPr>
        <p:spPr>
          <a:xfrm>
            <a:off x="7680960" y="-731520"/>
            <a:ext cx="2193840" cy="2193840"/>
          </a:xfrm>
          <a:prstGeom prst="ellipse">
            <a:avLst/>
          </a:prstGeom>
          <a:solidFill>
            <a:srgbClr val="028090">
              <a:alpha val="30000"/>
            </a:srgbClr>
          </a:solidFill>
          <a:ln w="12700">
            <a:solidFill>
              <a:srgbClr val="028090">
                <a:alpha val="30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" name="Shape 1"/>
          <p:cNvSpPr/>
          <p:nvPr/>
        </p:nvSpPr>
        <p:spPr>
          <a:xfrm>
            <a:off x="8138160" y="-274320"/>
            <a:ext cx="1279440" cy="1279440"/>
          </a:xfrm>
          <a:prstGeom prst="ellipse">
            <a:avLst/>
          </a:prstGeom>
          <a:solidFill>
            <a:srgbClr val="02c39a">
              <a:alpha val="45000"/>
            </a:srgbClr>
          </a:solidFill>
          <a:ln w="12700">
            <a:solidFill>
              <a:srgbClr val="02c39a">
                <a:alpha val="4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" name="Shape 2"/>
          <p:cNvSpPr/>
          <p:nvPr/>
        </p:nvSpPr>
        <p:spPr>
          <a:xfrm>
            <a:off x="6217920" y="1463040"/>
            <a:ext cx="657720" cy="657720"/>
          </a:xfrm>
          <a:prstGeom prst="roundRect">
            <a:avLst>
              <a:gd name="adj" fmla="val 11111"/>
            </a:avLst>
          </a:prstGeom>
          <a:solidFill>
            <a:srgbClr val="1e2761"/>
          </a:solidFill>
          <a:ln w="12700">
            <a:solidFill>
              <a:srgbClr val="02809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" name="Text 3"/>
          <p:cNvSpPr/>
          <p:nvPr/>
        </p:nvSpPr>
        <p:spPr>
          <a:xfrm>
            <a:off x="6217920" y="1463040"/>
            <a:ext cx="657720" cy="657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pc="-1" strike="noStrike">
                <a:solidFill>
                  <a:srgbClr val="cadcfc"/>
                </a:solidFill>
                <a:latin typeface="Calibri"/>
                <a:ea typeface="Calibri"/>
              </a:rPr>
              <a:t>8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" name="Shape 4"/>
          <p:cNvSpPr/>
          <p:nvPr/>
        </p:nvSpPr>
        <p:spPr>
          <a:xfrm>
            <a:off x="6931080" y="1463040"/>
            <a:ext cx="657720" cy="657720"/>
          </a:xfrm>
          <a:prstGeom prst="roundRect">
            <a:avLst>
              <a:gd name="adj" fmla="val 11111"/>
            </a:avLst>
          </a:prstGeom>
          <a:solidFill>
            <a:srgbClr val="1e2761"/>
          </a:solidFill>
          <a:ln w="12700">
            <a:solidFill>
              <a:srgbClr val="02809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" name="Text 5"/>
          <p:cNvSpPr/>
          <p:nvPr/>
        </p:nvSpPr>
        <p:spPr>
          <a:xfrm>
            <a:off x="6931080" y="1463040"/>
            <a:ext cx="657720" cy="657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pc="-1" strike="noStrike">
                <a:solidFill>
                  <a:srgbClr val="cadcfc"/>
                </a:solidFill>
                <a:latin typeface="Calibri"/>
                <a:ea typeface="Calibri"/>
              </a:rPr>
              <a:t>7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" name="Shape 6"/>
          <p:cNvSpPr/>
          <p:nvPr/>
        </p:nvSpPr>
        <p:spPr>
          <a:xfrm>
            <a:off x="7644240" y="1463040"/>
            <a:ext cx="657720" cy="657720"/>
          </a:xfrm>
          <a:prstGeom prst="roundRect">
            <a:avLst>
              <a:gd name="adj" fmla="val 11111"/>
            </a:avLst>
          </a:prstGeom>
          <a:solidFill>
            <a:srgbClr val="1e2761"/>
          </a:solidFill>
          <a:ln w="12700">
            <a:solidFill>
              <a:srgbClr val="02809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" name="Text 7"/>
          <p:cNvSpPr/>
          <p:nvPr/>
        </p:nvSpPr>
        <p:spPr>
          <a:xfrm>
            <a:off x="7644240" y="1463040"/>
            <a:ext cx="657720" cy="657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pc="-1" strike="noStrike">
                <a:solidFill>
                  <a:srgbClr val="cadcfc"/>
                </a:solidFill>
                <a:latin typeface="Calibri"/>
                <a:ea typeface="Calibri"/>
              </a:rPr>
              <a:t>6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" name="Shape 8"/>
          <p:cNvSpPr/>
          <p:nvPr/>
        </p:nvSpPr>
        <p:spPr>
          <a:xfrm>
            <a:off x="6217920" y="2176200"/>
            <a:ext cx="657720" cy="657720"/>
          </a:xfrm>
          <a:prstGeom prst="roundRect">
            <a:avLst>
              <a:gd name="adj" fmla="val 11111"/>
            </a:avLst>
          </a:prstGeom>
          <a:solidFill>
            <a:srgbClr val="1e2761"/>
          </a:solidFill>
          <a:ln w="12700">
            <a:solidFill>
              <a:srgbClr val="02809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" name="Text 9"/>
          <p:cNvSpPr/>
          <p:nvPr/>
        </p:nvSpPr>
        <p:spPr>
          <a:xfrm>
            <a:off x="6217920" y="2176200"/>
            <a:ext cx="657720" cy="657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pc="-1" strike="noStrike">
                <a:solidFill>
                  <a:srgbClr val="cadcfc"/>
                </a:solidFill>
                <a:latin typeface="Calibri"/>
                <a:ea typeface="Calibri"/>
              </a:rPr>
              <a:t>5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" name="Shape 10"/>
          <p:cNvSpPr/>
          <p:nvPr/>
        </p:nvSpPr>
        <p:spPr>
          <a:xfrm>
            <a:off x="6931080" y="2176200"/>
            <a:ext cx="657720" cy="657720"/>
          </a:xfrm>
          <a:prstGeom prst="roundRect">
            <a:avLst>
              <a:gd name="adj" fmla="val 11111"/>
            </a:avLst>
          </a:prstGeom>
          <a:solidFill>
            <a:srgbClr val="1e2761"/>
          </a:solidFill>
          <a:ln w="12700">
            <a:solidFill>
              <a:srgbClr val="02809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" name="Text 11"/>
          <p:cNvSpPr/>
          <p:nvPr/>
        </p:nvSpPr>
        <p:spPr>
          <a:xfrm>
            <a:off x="6931080" y="2176200"/>
            <a:ext cx="657720" cy="657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pc="-1" strike="noStrike">
                <a:solidFill>
                  <a:srgbClr val="cadcfc"/>
                </a:solidFill>
                <a:latin typeface="Calibri"/>
                <a:ea typeface="Calibri"/>
              </a:rPr>
              <a:t>4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" name="Shape 12"/>
          <p:cNvSpPr/>
          <p:nvPr/>
        </p:nvSpPr>
        <p:spPr>
          <a:xfrm>
            <a:off x="7644240" y="2176200"/>
            <a:ext cx="657720" cy="657720"/>
          </a:xfrm>
          <a:prstGeom prst="roundRect">
            <a:avLst>
              <a:gd name="adj" fmla="val 11111"/>
            </a:avLst>
          </a:prstGeom>
          <a:solidFill>
            <a:srgbClr val="1e2761"/>
          </a:solidFill>
          <a:ln w="12700">
            <a:solidFill>
              <a:srgbClr val="02809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" name="Text 13"/>
          <p:cNvSpPr/>
          <p:nvPr/>
        </p:nvSpPr>
        <p:spPr>
          <a:xfrm>
            <a:off x="7644240" y="2176200"/>
            <a:ext cx="657720" cy="657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pc="-1" strike="noStrike">
                <a:solidFill>
                  <a:srgbClr val="cadcfc"/>
                </a:solidFill>
                <a:latin typeface="Calibri"/>
                <a:ea typeface="Calibri"/>
              </a:rPr>
              <a:t>3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" name="Shape 14"/>
          <p:cNvSpPr/>
          <p:nvPr/>
        </p:nvSpPr>
        <p:spPr>
          <a:xfrm>
            <a:off x="6217920" y="2889360"/>
            <a:ext cx="657720" cy="657720"/>
          </a:xfrm>
          <a:prstGeom prst="roundRect">
            <a:avLst>
              <a:gd name="adj" fmla="val 11111"/>
            </a:avLst>
          </a:prstGeom>
          <a:solidFill>
            <a:srgbClr val="1e2761"/>
          </a:solidFill>
          <a:ln w="12700">
            <a:solidFill>
              <a:srgbClr val="02809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" name="Text 15"/>
          <p:cNvSpPr/>
          <p:nvPr/>
        </p:nvSpPr>
        <p:spPr>
          <a:xfrm>
            <a:off x="6217920" y="2889360"/>
            <a:ext cx="657720" cy="657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pc="-1" strike="noStrike">
                <a:solidFill>
                  <a:srgbClr val="cadcfc"/>
                </a:solidFill>
                <a:latin typeface="Calibri"/>
                <a:ea typeface="Calibri"/>
              </a:rPr>
              <a:t>2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" name="Shape 16"/>
          <p:cNvSpPr/>
          <p:nvPr/>
        </p:nvSpPr>
        <p:spPr>
          <a:xfrm>
            <a:off x="6931080" y="2889360"/>
            <a:ext cx="657720" cy="657720"/>
          </a:xfrm>
          <a:prstGeom prst="roundRect">
            <a:avLst>
              <a:gd name="adj" fmla="val 11111"/>
            </a:avLst>
          </a:prstGeom>
          <a:solidFill>
            <a:srgbClr val="1e2761"/>
          </a:solidFill>
          <a:ln w="12700">
            <a:solidFill>
              <a:srgbClr val="02809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" name="Text 17"/>
          <p:cNvSpPr/>
          <p:nvPr/>
        </p:nvSpPr>
        <p:spPr>
          <a:xfrm>
            <a:off x="6931080" y="2889360"/>
            <a:ext cx="657720" cy="657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pc="-1" strike="noStrike">
                <a:solidFill>
                  <a:srgbClr val="cadcfc"/>
                </a:solidFill>
                <a:latin typeface="Calibri"/>
                <a:ea typeface="Calibri"/>
              </a:rPr>
              <a:t>1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" name="Shape 18"/>
          <p:cNvSpPr/>
          <p:nvPr/>
        </p:nvSpPr>
        <p:spPr>
          <a:xfrm>
            <a:off x="7644240" y="2889360"/>
            <a:ext cx="657720" cy="657720"/>
          </a:xfrm>
          <a:prstGeom prst="roundRect">
            <a:avLst>
              <a:gd name="adj" fmla="val 11111"/>
            </a:avLst>
          </a:prstGeom>
          <a:solidFill>
            <a:srgbClr val="1a1f3a"/>
          </a:solidFill>
          <a:ln w="12700">
            <a:solidFill>
              <a:srgbClr val="02809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" name="Text 19"/>
          <p:cNvSpPr/>
          <p:nvPr/>
        </p:nvSpPr>
        <p:spPr>
          <a:xfrm>
            <a:off x="8796600" y="2468880"/>
            <a:ext cx="45648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800" spc="-1" strike="noStrike">
                <a:solidFill>
                  <a:srgbClr val="02c39a"/>
                </a:solidFill>
                <a:latin typeface="Calibri"/>
              </a:rPr>
              <a:t>→</a:t>
            </a:r>
            <a:endParaRPr b="0" lang="en-US" sz="2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" name="Shape 20"/>
          <p:cNvSpPr/>
          <p:nvPr/>
        </p:nvSpPr>
        <p:spPr>
          <a:xfrm>
            <a:off x="9994320" y="1463040"/>
            <a:ext cx="657720" cy="657720"/>
          </a:xfrm>
          <a:prstGeom prst="roundRect">
            <a:avLst>
              <a:gd name="adj" fmla="val 11111"/>
            </a:avLst>
          </a:prstGeom>
          <a:solidFill>
            <a:srgbClr val="02c39a"/>
          </a:solidFill>
          <a:ln w="12700">
            <a:solidFill>
              <a:srgbClr val="02809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" name="Text 21"/>
          <p:cNvSpPr/>
          <p:nvPr/>
        </p:nvSpPr>
        <p:spPr>
          <a:xfrm>
            <a:off x="9994320" y="1463040"/>
            <a:ext cx="657720" cy="657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pc="-1" strike="noStrike">
                <a:solidFill>
                  <a:srgbClr val="0d1321"/>
                </a:solidFill>
                <a:latin typeface="Calibri"/>
                <a:ea typeface="Calibri"/>
              </a:rPr>
              <a:t>1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" name="Shape 22"/>
          <p:cNvSpPr/>
          <p:nvPr/>
        </p:nvSpPr>
        <p:spPr>
          <a:xfrm>
            <a:off x="10707480" y="1463040"/>
            <a:ext cx="657720" cy="657720"/>
          </a:xfrm>
          <a:prstGeom prst="roundRect">
            <a:avLst>
              <a:gd name="adj" fmla="val 11111"/>
            </a:avLst>
          </a:prstGeom>
          <a:solidFill>
            <a:srgbClr val="02c39a"/>
          </a:solidFill>
          <a:ln w="12700">
            <a:solidFill>
              <a:srgbClr val="02809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" name="Text 23"/>
          <p:cNvSpPr/>
          <p:nvPr/>
        </p:nvSpPr>
        <p:spPr>
          <a:xfrm>
            <a:off x="10707480" y="1463040"/>
            <a:ext cx="657720" cy="657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pc="-1" strike="noStrike">
                <a:solidFill>
                  <a:srgbClr val="0d1321"/>
                </a:solidFill>
                <a:latin typeface="Calibri"/>
                <a:ea typeface="Calibri"/>
              </a:rPr>
              <a:t>2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" name="Shape 24"/>
          <p:cNvSpPr/>
          <p:nvPr/>
        </p:nvSpPr>
        <p:spPr>
          <a:xfrm>
            <a:off x="9281160" y="1462680"/>
            <a:ext cx="657720" cy="657720"/>
          </a:xfrm>
          <a:prstGeom prst="roundRect">
            <a:avLst>
              <a:gd name="adj" fmla="val 11111"/>
            </a:avLst>
          </a:prstGeom>
          <a:solidFill>
            <a:srgbClr val="1a1f3a"/>
          </a:solidFill>
          <a:ln w="12700">
            <a:solidFill>
              <a:srgbClr val="02809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" name="Shape 25"/>
          <p:cNvSpPr/>
          <p:nvPr/>
        </p:nvSpPr>
        <p:spPr>
          <a:xfrm>
            <a:off x="9281160" y="2176200"/>
            <a:ext cx="657720" cy="657720"/>
          </a:xfrm>
          <a:prstGeom prst="roundRect">
            <a:avLst>
              <a:gd name="adj" fmla="val 11111"/>
            </a:avLst>
          </a:prstGeom>
          <a:solidFill>
            <a:srgbClr val="02c39a"/>
          </a:solidFill>
          <a:ln w="12700">
            <a:solidFill>
              <a:srgbClr val="02809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" name="Text 26"/>
          <p:cNvSpPr/>
          <p:nvPr/>
        </p:nvSpPr>
        <p:spPr>
          <a:xfrm>
            <a:off x="9281160" y="2176200"/>
            <a:ext cx="657720" cy="657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pc="-1" strike="noStrike">
                <a:solidFill>
                  <a:srgbClr val="0d1321"/>
                </a:solidFill>
                <a:latin typeface="Calibri"/>
                <a:ea typeface="Calibri"/>
              </a:rPr>
              <a:t>3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5" name="Shape 27"/>
          <p:cNvSpPr/>
          <p:nvPr/>
        </p:nvSpPr>
        <p:spPr>
          <a:xfrm>
            <a:off x="9994320" y="2176200"/>
            <a:ext cx="657720" cy="657720"/>
          </a:xfrm>
          <a:prstGeom prst="roundRect">
            <a:avLst>
              <a:gd name="adj" fmla="val 11111"/>
            </a:avLst>
          </a:prstGeom>
          <a:solidFill>
            <a:srgbClr val="02c39a"/>
          </a:solidFill>
          <a:ln w="12700">
            <a:solidFill>
              <a:srgbClr val="02809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6" name="Text 28"/>
          <p:cNvSpPr/>
          <p:nvPr/>
        </p:nvSpPr>
        <p:spPr>
          <a:xfrm>
            <a:off x="9994320" y="2176200"/>
            <a:ext cx="657720" cy="657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pc="-1" strike="noStrike">
                <a:solidFill>
                  <a:srgbClr val="0d1321"/>
                </a:solidFill>
                <a:latin typeface="Calibri"/>
                <a:ea typeface="Calibri"/>
              </a:rPr>
              <a:t>4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" name="Shape 29"/>
          <p:cNvSpPr/>
          <p:nvPr/>
        </p:nvSpPr>
        <p:spPr>
          <a:xfrm>
            <a:off x="10707480" y="2176200"/>
            <a:ext cx="657720" cy="657720"/>
          </a:xfrm>
          <a:prstGeom prst="roundRect">
            <a:avLst>
              <a:gd name="adj" fmla="val 11111"/>
            </a:avLst>
          </a:prstGeom>
          <a:solidFill>
            <a:srgbClr val="02c39a"/>
          </a:solidFill>
          <a:ln w="12700">
            <a:solidFill>
              <a:srgbClr val="02809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8" name="Text 30"/>
          <p:cNvSpPr/>
          <p:nvPr/>
        </p:nvSpPr>
        <p:spPr>
          <a:xfrm>
            <a:off x="10707480" y="2176200"/>
            <a:ext cx="657720" cy="657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pc="-1" strike="noStrike">
                <a:solidFill>
                  <a:srgbClr val="0d1321"/>
                </a:solidFill>
                <a:latin typeface="Calibri"/>
                <a:ea typeface="Calibri"/>
              </a:rPr>
              <a:t>5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9" name="Shape 31"/>
          <p:cNvSpPr/>
          <p:nvPr/>
        </p:nvSpPr>
        <p:spPr>
          <a:xfrm>
            <a:off x="9281160" y="2889360"/>
            <a:ext cx="657720" cy="657720"/>
          </a:xfrm>
          <a:prstGeom prst="roundRect">
            <a:avLst>
              <a:gd name="adj" fmla="val 11111"/>
            </a:avLst>
          </a:prstGeom>
          <a:solidFill>
            <a:srgbClr val="02c39a"/>
          </a:solidFill>
          <a:ln w="12700">
            <a:solidFill>
              <a:srgbClr val="02809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0" name="Text 32"/>
          <p:cNvSpPr/>
          <p:nvPr/>
        </p:nvSpPr>
        <p:spPr>
          <a:xfrm>
            <a:off x="9281160" y="2889360"/>
            <a:ext cx="657720" cy="657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pc="-1" strike="noStrike">
                <a:solidFill>
                  <a:srgbClr val="0d1321"/>
                </a:solidFill>
                <a:latin typeface="Calibri"/>
                <a:ea typeface="Calibri"/>
              </a:rPr>
              <a:t>6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1" name="Shape 33"/>
          <p:cNvSpPr/>
          <p:nvPr/>
        </p:nvSpPr>
        <p:spPr>
          <a:xfrm>
            <a:off x="9994320" y="2889360"/>
            <a:ext cx="657720" cy="657720"/>
          </a:xfrm>
          <a:prstGeom prst="roundRect">
            <a:avLst>
              <a:gd name="adj" fmla="val 11111"/>
            </a:avLst>
          </a:prstGeom>
          <a:solidFill>
            <a:srgbClr val="02c39a"/>
          </a:solidFill>
          <a:ln w="12700">
            <a:solidFill>
              <a:srgbClr val="02809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2" name="Text 34"/>
          <p:cNvSpPr/>
          <p:nvPr/>
        </p:nvSpPr>
        <p:spPr>
          <a:xfrm>
            <a:off x="9994320" y="2889360"/>
            <a:ext cx="657720" cy="657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pc="-1" strike="noStrike">
                <a:solidFill>
                  <a:srgbClr val="0d1321"/>
                </a:solidFill>
                <a:latin typeface="Calibri"/>
                <a:ea typeface="Calibri"/>
              </a:rPr>
              <a:t>7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3" name="Shape 35"/>
          <p:cNvSpPr/>
          <p:nvPr/>
        </p:nvSpPr>
        <p:spPr>
          <a:xfrm>
            <a:off x="10707480" y="2889360"/>
            <a:ext cx="657720" cy="657720"/>
          </a:xfrm>
          <a:prstGeom prst="roundRect">
            <a:avLst>
              <a:gd name="adj" fmla="val 11111"/>
            </a:avLst>
          </a:prstGeom>
          <a:solidFill>
            <a:srgbClr val="02c39a"/>
          </a:solidFill>
          <a:ln w="12700">
            <a:solidFill>
              <a:srgbClr val="02809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4" name="Text 36"/>
          <p:cNvSpPr/>
          <p:nvPr/>
        </p:nvSpPr>
        <p:spPr>
          <a:xfrm>
            <a:off x="10707480" y="2889360"/>
            <a:ext cx="657720" cy="657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pc="-1" strike="noStrike">
                <a:solidFill>
                  <a:srgbClr val="0d1321"/>
                </a:solidFill>
                <a:latin typeface="Calibri"/>
                <a:ea typeface="Calibri"/>
              </a:rPr>
              <a:t>8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5" name="Text 37"/>
          <p:cNvSpPr/>
          <p:nvPr/>
        </p:nvSpPr>
        <p:spPr>
          <a:xfrm>
            <a:off x="6217920" y="3703320"/>
            <a:ext cx="2084040" cy="25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100" spc="-1" strike="noStrike">
                <a:solidFill>
                  <a:srgbClr val="8892b0"/>
                </a:solidFill>
                <a:latin typeface="Calibri"/>
                <a:ea typeface="Calibri"/>
              </a:rPr>
              <a:t>start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6" name="Text 38"/>
          <p:cNvSpPr/>
          <p:nvPr/>
        </p:nvSpPr>
        <p:spPr>
          <a:xfrm>
            <a:off x="9281160" y="3703320"/>
            <a:ext cx="2084040" cy="25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100" spc="-1" strike="noStrike">
                <a:solidFill>
                  <a:srgbClr val="8892b0"/>
                </a:solidFill>
                <a:latin typeface="Calibri"/>
                <a:ea typeface="Calibri"/>
              </a:rPr>
              <a:t>target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7" name="Text 39"/>
          <p:cNvSpPr/>
          <p:nvPr/>
        </p:nvSpPr>
        <p:spPr>
          <a:xfrm>
            <a:off x="502920" y="411480"/>
            <a:ext cx="548568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02c39a"/>
                </a:solidFill>
                <a:latin typeface="Calibri"/>
                <a:ea typeface="Calibri"/>
              </a:rPr>
              <a:t>Seminar Cognitive Systems 2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8" name="Text 40"/>
          <p:cNvSpPr/>
          <p:nvPr/>
        </p:nvSpPr>
        <p:spPr>
          <a:xfrm>
            <a:off x="502920" y="868680"/>
            <a:ext cx="5577120" cy="169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5000"/>
              </a:lnSpc>
              <a:tabLst>
                <a:tab algn="l" pos="0"/>
              </a:tabLst>
            </a:pPr>
            <a:r>
              <a:rPr b="1" lang="en-US" sz="4600" spc="-1" strike="noStrike">
                <a:solidFill>
                  <a:srgbClr val="ffffff"/>
                </a:solidFill>
                <a:latin typeface="Cambria"/>
                <a:ea typeface="Cambria"/>
              </a:rPr>
              <a:t>Sliding Block</a:t>
            </a:r>
            <a:endParaRPr b="0" lang="en-US" sz="46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algn="l" pos="0"/>
              </a:tabLst>
            </a:pPr>
            <a:r>
              <a:rPr b="1" lang="en-US" sz="4600" spc="-1" strike="noStrike">
                <a:solidFill>
                  <a:srgbClr val="ffffff"/>
                </a:solidFill>
                <a:latin typeface="Cambria"/>
                <a:ea typeface="Cambria"/>
              </a:rPr>
              <a:t>Puzzle Solver</a:t>
            </a:r>
            <a:endParaRPr b="0" lang="en-US" sz="4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9" name="Text 41"/>
          <p:cNvSpPr/>
          <p:nvPr/>
        </p:nvSpPr>
        <p:spPr>
          <a:xfrm>
            <a:off x="502920" y="2633400"/>
            <a:ext cx="539424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600" spc="-1" strike="noStrike">
                <a:solidFill>
                  <a:srgbClr val="cadcfc"/>
                </a:solidFill>
                <a:latin typeface="Calibri"/>
                <a:ea typeface="Calibri"/>
              </a:rPr>
              <a:t>BFS vs A* with Manhattan Distance Heuristic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0" name="Text 42"/>
          <p:cNvSpPr/>
          <p:nvPr/>
        </p:nvSpPr>
        <p:spPr>
          <a:xfrm>
            <a:off x="502920" y="4480560"/>
            <a:ext cx="822888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8892b0"/>
                </a:solidFill>
                <a:latin typeface="Calibri"/>
                <a:ea typeface="Calibri"/>
              </a:rPr>
              <a:t>BTU Cottbus-Senftenberg  ·  Problem KS2.1  ·  July 28, 2026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Text 0"/>
          <p:cNvSpPr/>
          <p:nvPr/>
        </p:nvSpPr>
        <p:spPr>
          <a:xfrm>
            <a:off x="1564560" y="54720"/>
            <a:ext cx="8228880" cy="54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600" spc="-1" strike="noStrike">
                <a:solidFill>
                  <a:srgbClr val="1e2761"/>
                </a:solidFill>
                <a:latin typeface="Cambria"/>
                <a:ea typeface="Cambria"/>
              </a:rPr>
              <a:t>Problem Statement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" name="Shape 1"/>
          <p:cNvSpPr/>
          <p:nvPr/>
        </p:nvSpPr>
        <p:spPr>
          <a:xfrm>
            <a:off x="502920" y="1152000"/>
            <a:ext cx="291960" cy="291960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3" name="Text 2"/>
          <p:cNvSpPr/>
          <p:nvPr/>
        </p:nvSpPr>
        <p:spPr>
          <a:xfrm>
            <a:off x="502920" y="1124640"/>
            <a:ext cx="291960" cy="29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ffff"/>
                </a:solidFill>
                <a:latin typeface="Arial"/>
                <a:ea typeface="Arial"/>
              </a:rPr>
              <a:t>▸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" name="Text 3"/>
          <p:cNvSpPr/>
          <p:nvPr/>
        </p:nvSpPr>
        <p:spPr>
          <a:xfrm>
            <a:off x="932760" y="1097280"/>
            <a:ext cx="4525560" cy="40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pc="-1" strike="noStrike">
                <a:solidFill>
                  <a:srgbClr val="0d1321"/>
                </a:solidFill>
                <a:latin typeface="Calibri"/>
                <a:ea typeface="Calibri"/>
              </a:rPr>
              <a:t>3×3 sliding block puzzle with 8 numbered tiles and one blank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" name="Shape 4"/>
          <p:cNvSpPr/>
          <p:nvPr/>
        </p:nvSpPr>
        <p:spPr>
          <a:xfrm>
            <a:off x="502920" y="1737360"/>
            <a:ext cx="291960" cy="291960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6" name="Text 5"/>
          <p:cNvSpPr/>
          <p:nvPr/>
        </p:nvSpPr>
        <p:spPr>
          <a:xfrm>
            <a:off x="502920" y="1710000"/>
            <a:ext cx="291960" cy="29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ffff"/>
                </a:solidFill>
                <a:latin typeface="Arial"/>
                <a:ea typeface="Arial"/>
              </a:rPr>
              <a:t>▸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" name="Text 6"/>
          <p:cNvSpPr/>
          <p:nvPr/>
        </p:nvSpPr>
        <p:spPr>
          <a:xfrm>
            <a:off x="932760" y="1682640"/>
            <a:ext cx="4525560" cy="40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pc="-1" strike="noStrike">
                <a:solidFill>
                  <a:srgbClr val="0d1321"/>
                </a:solidFill>
                <a:latin typeface="Calibri"/>
                <a:ea typeface="Calibri"/>
              </a:rPr>
              <a:t>Tiles can only slide horizontally or vertically into the blank space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" name="Shape 7"/>
          <p:cNvSpPr/>
          <p:nvPr/>
        </p:nvSpPr>
        <p:spPr>
          <a:xfrm>
            <a:off x="502920" y="2322720"/>
            <a:ext cx="291960" cy="291960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9" name="Text 8"/>
          <p:cNvSpPr/>
          <p:nvPr/>
        </p:nvSpPr>
        <p:spPr>
          <a:xfrm>
            <a:off x="502920" y="2295000"/>
            <a:ext cx="291960" cy="29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ffff"/>
                </a:solidFill>
                <a:latin typeface="Arial"/>
                <a:ea typeface="Arial"/>
              </a:rPr>
              <a:t>▸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" name="Text 9"/>
          <p:cNvSpPr/>
          <p:nvPr/>
        </p:nvSpPr>
        <p:spPr>
          <a:xfrm>
            <a:off x="932760" y="2267640"/>
            <a:ext cx="4525560" cy="40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pc="-1" strike="noStrike">
                <a:solidFill>
                  <a:srgbClr val="0d1321"/>
                </a:solidFill>
                <a:latin typeface="Calibri"/>
                <a:ea typeface="Calibri"/>
              </a:rPr>
              <a:t>Goal: reach a specific target configuration in as few moves as possible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" name="Shape 10"/>
          <p:cNvSpPr/>
          <p:nvPr/>
        </p:nvSpPr>
        <p:spPr>
          <a:xfrm>
            <a:off x="502920" y="2907720"/>
            <a:ext cx="291960" cy="291960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2" name="Text 11"/>
          <p:cNvSpPr/>
          <p:nvPr/>
        </p:nvSpPr>
        <p:spPr>
          <a:xfrm>
            <a:off x="502920" y="2880360"/>
            <a:ext cx="291960" cy="29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ffff"/>
                </a:solidFill>
                <a:latin typeface="Arial"/>
                <a:ea typeface="Arial"/>
              </a:rPr>
              <a:t>▸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" name="Text 12"/>
          <p:cNvSpPr/>
          <p:nvPr/>
        </p:nvSpPr>
        <p:spPr>
          <a:xfrm>
            <a:off x="932760" y="2853000"/>
            <a:ext cx="4525560" cy="40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pc="-1" strike="noStrike">
                <a:solidFill>
                  <a:srgbClr val="0d1321"/>
                </a:solidFill>
                <a:latin typeface="Calibri"/>
                <a:ea typeface="Calibri"/>
              </a:rPr>
              <a:t>Must implement BFS (uninformed) and A* (informed with admissible heuristic)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" name="Shape 13"/>
          <p:cNvSpPr/>
          <p:nvPr/>
        </p:nvSpPr>
        <p:spPr>
          <a:xfrm>
            <a:off x="502920" y="3493080"/>
            <a:ext cx="291960" cy="291960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5" name="Text 14"/>
          <p:cNvSpPr/>
          <p:nvPr/>
        </p:nvSpPr>
        <p:spPr>
          <a:xfrm>
            <a:off x="502920" y="3465720"/>
            <a:ext cx="291960" cy="29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ffff"/>
                </a:solidFill>
                <a:latin typeface="Arial"/>
                <a:ea typeface="Arial"/>
              </a:rPr>
              <a:t>▸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" name="Text 15"/>
          <p:cNvSpPr/>
          <p:nvPr/>
        </p:nvSpPr>
        <p:spPr>
          <a:xfrm>
            <a:off x="932760" y="3438000"/>
            <a:ext cx="4525560" cy="40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pc="-1" strike="noStrike">
                <a:solidFill>
                  <a:srgbClr val="0d1321"/>
                </a:solidFill>
                <a:latin typeface="Calibri"/>
                <a:ea typeface="Calibri"/>
              </a:rPr>
              <a:t>Track: node expansions · max nodes in memory · moves in solution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" name="Text 16"/>
          <p:cNvSpPr/>
          <p:nvPr/>
        </p:nvSpPr>
        <p:spPr>
          <a:xfrm>
            <a:off x="7461360" y="1216080"/>
            <a:ext cx="2358360" cy="25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1e2761"/>
                </a:solidFill>
                <a:latin typeface="Calibri"/>
                <a:ea typeface="Calibri"/>
              </a:rPr>
              <a:t>Start State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" name="Shape 17"/>
          <p:cNvSpPr/>
          <p:nvPr/>
        </p:nvSpPr>
        <p:spPr>
          <a:xfrm>
            <a:off x="6117120" y="393120"/>
            <a:ext cx="397440" cy="327960"/>
          </a:xfrm>
          <a:prstGeom prst="roundRect">
            <a:avLst>
              <a:gd name="adj" fmla="val 10976"/>
            </a:avLst>
          </a:prstGeom>
          <a:solidFill>
            <a:srgbClr val="1e2761"/>
          </a:solidFill>
          <a:ln w="12700">
            <a:solidFill>
              <a:srgbClr val="02809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9" name="Text 18"/>
          <p:cNvSpPr/>
          <p:nvPr/>
        </p:nvSpPr>
        <p:spPr>
          <a:xfrm>
            <a:off x="6117120" y="393120"/>
            <a:ext cx="397440" cy="32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600" spc="-1" strike="noStrike">
                <a:solidFill>
                  <a:srgbClr val="ffffff"/>
                </a:solidFill>
                <a:latin typeface="Calibri"/>
                <a:ea typeface="Calibri"/>
              </a:rPr>
              <a:t>8</a:t>
            </a:r>
            <a:endParaRPr b="0" lang="en-US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" name="Shape 19"/>
          <p:cNvSpPr/>
          <p:nvPr/>
        </p:nvSpPr>
        <p:spPr>
          <a:xfrm>
            <a:off x="6922080" y="393120"/>
            <a:ext cx="397440" cy="327960"/>
          </a:xfrm>
          <a:prstGeom prst="roundRect">
            <a:avLst>
              <a:gd name="adj" fmla="val 10976"/>
            </a:avLst>
          </a:prstGeom>
          <a:solidFill>
            <a:srgbClr val="1e2761"/>
          </a:solidFill>
          <a:ln w="12700">
            <a:solidFill>
              <a:srgbClr val="02809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1" name="Text 20"/>
          <p:cNvSpPr/>
          <p:nvPr/>
        </p:nvSpPr>
        <p:spPr>
          <a:xfrm>
            <a:off x="6922080" y="393120"/>
            <a:ext cx="397440" cy="32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600" spc="-1" strike="noStrike">
                <a:solidFill>
                  <a:srgbClr val="ffffff"/>
                </a:solidFill>
                <a:latin typeface="Calibri"/>
                <a:ea typeface="Calibri"/>
              </a:rPr>
              <a:t>7</a:t>
            </a:r>
            <a:endParaRPr b="0" lang="en-US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" name="Shape 21"/>
          <p:cNvSpPr/>
          <p:nvPr/>
        </p:nvSpPr>
        <p:spPr>
          <a:xfrm>
            <a:off x="7726680" y="393120"/>
            <a:ext cx="397440" cy="327960"/>
          </a:xfrm>
          <a:prstGeom prst="roundRect">
            <a:avLst>
              <a:gd name="adj" fmla="val 10976"/>
            </a:avLst>
          </a:prstGeom>
          <a:solidFill>
            <a:srgbClr val="1e2761"/>
          </a:solidFill>
          <a:ln w="12700">
            <a:solidFill>
              <a:srgbClr val="02809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3" name="Text 22"/>
          <p:cNvSpPr/>
          <p:nvPr/>
        </p:nvSpPr>
        <p:spPr>
          <a:xfrm>
            <a:off x="7726680" y="393120"/>
            <a:ext cx="397440" cy="32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600" spc="-1" strike="noStrike">
                <a:solidFill>
                  <a:srgbClr val="ffffff"/>
                </a:solidFill>
                <a:latin typeface="Calibri"/>
                <a:ea typeface="Calibri"/>
              </a:rPr>
              <a:t>6</a:t>
            </a:r>
            <a:endParaRPr b="0" lang="en-US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" name="Shape 23"/>
          <p:cNvSpPr/>
          <p:nvPr/>
        </p:nvSpPr>
        <p:spPr>
          <a:xfrm>
            <a:off x="6117120" y="1197720"/>
            <a:ext cx="397440" cy="327960"/>
          </a:xfrm>
          <a:prstGeom prst="roundRect">
            <a:avLst>
              <a:gd name="adj" fmla="val 10976"/>
            </a:avLst>
          </a:prstGeom>
          <a:solidFill>
            <a:srgbClr val="1e2761"/>
          </a:solidFill>
          <a:ln w="12700">
            <a:solidFill>
              <a:srgbClr val="02809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5" name="Text 24"/>
          <p:cNvSpPr/>
          <p:nvPr/>
        </p:nvSpPr>
        <p:spPr>
          <a:xfrm>
            <a:off x="6117120" y="1197720"/>
            <a:ext cx="397440" cy="32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600" spc="-1" strike="noStrike">
                <a:solidFill>
                  <a:srgbClr val="ffffff"/>
                </a:solidFill>
                <a:latin typeface="Calibri"/>
                <a:ea typeface="Calibri"/>
              </a:rPr>
              <a:t>5</a:t>
            </a:r>
            <a:endParaRPr b="0" lang="en-US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" name="Shape 25"/>
          <p:cNvSpPr/>
          <p:nvPr/>
        </p:nvSpPr>
        <p:spPr>
          <a:xfrm>
            <a:off x="6922080" y="1197720"/>
            <a:ext cx="397440" cy="327960"/>
          </a:xfrm>
          <a:prstGeom prst="roundRect">
            <a:avLst>
              <a:gd name="adj" fmla="val 10976"/>
            </a:avLst>
          </a:prstGeom>
          <a:solidFill>
            <a:srgbClr val="1e2761"/>
          </a:solidFill>
          <a:ln w="12700">
            <a:solidFill>
              <a:srgbClr val="02809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7" name="Text 26"/>
          <p:cNvSpPr/>
          <p:nvPr/>
        </p:nvSpPr>
        <p:spPr>
          <a:xfrm>
            <a:off x="6922080" y="1197720"/>
            <a:ext cx="397440" cy="32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600" spc="-1" strike="noStrike">
                <a:solidFill>
                  <a:srgbClr val="ffffff"/>
                </a:solidFill>
                <a:latin typeface="Calibri"/>
                <a:ea typeface="Calibri"/>
              </a:rPr>
              <a:t>4</a:t>
            </a:r>
            <a:endParaRPr b="0" lang="en-US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" name="Shape 27"/>
          <p:cNvSpPr/>
          <p:nvPr/>
        </p:nvSpPr>
        <p:spPr>
          <a:xfrm>
            <a:off x="7726680" y="1197720"/>
            <a:ext cx="397440" cy="327960"/>
          </a:xfrm>
          <a:prstGeom prst="roundRect">
            <a:avLst>
              <a:gd name="adj" fmla="val 10976"/>
            </a:avLst>
          </a:prstGeom>
          <a:solidFill>
            <a:srgbClr val="1e2761"/>
          </a:solidFill>
          <a:ln w="12700">
            <a:solidFill>
              <a:srgbClr val="02809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9" name="Text 28"/>
          <p:cNvSpPr/>
          <p:nvPr/>
        </p:nvSpPr>
        <p:spPr>
          <a:xfrm>
            <a:off x="7726680" y="1197720"/>
            <a:ext cx="397440" cy="32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600" spc="-1" strike="noStrike">
                <a:solidFill>
                  <a:srgbClr val="ffffff"/>
                </a:solidFill>
                <a:latin typeface="Calibri"/>
                <a:ea typeface="Calibri"/>
              </a:rPr>
              <a:t>3</a:t>
            </a:r>
            <a:endParaRPr b="0" lang="en-US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" name="Shape 29"/>
          <p:cNvSpPr/>
          <p:nvPr/>
        </p:nvSpPr>
        <p:spPr>
          <a:xfrm>
            <a:off x="6117120" y="2002680"/>
            <a:ext cx="397440" cy="327960"/>
          </a:xfrm>
          <a:prstGeom prst="roundRect">
            <a:avLst>
              <a:gd name="adj" fmla="val 10976"/>
            </a:avLst>
          </a:prstGeom>
          <a:solidFill>
            <a:srgbClr val="1e2761"/>
          </a:solidFill>
          <a:ln w="12700">
            <a:solidFill>
              <a:srgbClr val="02809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1" name="Text 30"/>
          <p:cNvSpPr/>
          <p:nvPr/>
        </p:nvSpPr>
        <p:spPr>
          <a:xfrm>
            <a:off x="6117120" y="2002680"/>
            <a:ext cx="397440" cy="32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600" spc="-1" strike="noStrike">
                <a:solidFill>
                  <a:srgbClr val="ffffff"/>
                </a:solidFill>
                <a:latin typeface="Calibri"/>
                <a:ea typeface="Calibri"/>
              </a:rPr>
              <a:t>2</a:t>
            </a:r>
            <a:endParaRPr b="0" lang="en-US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" name="Shape 31"/>
          <p:cNvSpPr/>
          <p:nvPr/>
        </p:nvSpPr>
        <p:spPr>
          <a:xfrm>
            <a:off x="6922080" y="2002680"/>
            <a:ext cx="397440" cy="327960"/>
          </a:xfrm>
          <a:prstGeom prst="roundRect">
            <a:avLst>
              <a:gd name="adj" fmla="val 10976"/>
            </a:avLst>
          </a:prstGeom>
          <a:solidFill>
            <a:srgbClr val="1e2761"/>
          </a:solidFill>
          <a:ln w="12700">
            <a:solidFill>
              <a:srgbClr val="02809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3" name="Text 32"/>
          <p:cNvSpPr/>
          <p:nvPr/>
        </p:nvSpPr>
        <p:spPr>
          <a:xfrm>
            <a:off x="6922080" y="2002680"/>
            <a:ext cx="397440" cy="32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600" spc="-1" strike="noStrike">
                <a:solidFill>
                  <a:srgbClr val="ffffff"/>
                </a:solidFill>
                <a:latin typeface="Calibri"/>
                <a:ea typeface="Calibri"/>
              </a:rPr>
              <a:t>1</a:t>
            </a:r>
            <a:endParaRPr b="0" lang="en-US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" name="Shape 33"/>
          <p:cNvSpPr/>
          <p:nvPr/>
        </p:nvSpPr>
        <p:spPr>
          <a:xfrm>
            <a:off x="7726680" y="2002680"/>
            <a:ext cx="397440" cy="327960"/>
          </a:xfrm>
          <a:prstGeom prst="roundRect">
            <a:avLst>
              <a:gd name="adj" fmla="val 10976"/>
            </a:avLst>
          </a:prstGeom>
          <a:solidFill>
            <a:srgbClr val="eef2fa"/>
          </a:solidFill>
          <a:ln w="12700">
            <a:solidFill>
              <a:srgbClr val="02809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" name="Text 34"/>
          <p:cNvSpPr/>
          <p:nvPr/>
        </p:nvSpPr>
        <p:spPr>
          <a:xfrm rot="5400000">
            <a:off x="7087680" y="2505960"/>
            <a:ext cx="191520" cy="32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200" spc="-1" strike="noStrike">
                <a:solidFill>
                  <a:srgbClr val="02c39a"/>
                </a:solidFill>
                <a:latin typeface="Calibri"/>
              </a:rPr>
              <a:t>→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" name="Text 35"/>
          <p:cNvSpPr/>
          <p:nvPr/>
        </p:nvSpPr>
        <p:spPr>
          <a:xfrm>
            <a:off x="7461360" y="3831480"/>
            <a:ext cx="2358360" cy="25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1e2761"/>
                </a:solidFill>
                <a:latin typeface="Calibri"/>
                <a:ea typeface="Calibri"/>
              </a:rPr>
              <a:t>Target State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" name="Shape 36"/>
          <p:cNvSpPr/>
          <p:nvPr/>
        </p:nvSpPr>
        <p:spPr>
          <a:xfrm>
            <a:off x="6922080" y="3035880"/>
            <a:ext cx="397440" cy="277920"/>
          </a:xfrm>
          <a:prstGeom prst="roundRect">
            <a:avLst>
              <a:gd name="adj" fmla="val 10976"/>
            </a:avLst>
          </a:prstGeom>
          <a:solidFill>
            <a:srgbClr val="02c39a"/>
          </a:solidFill>
          <a:ln w="12700">
            <a:solidFill>
              <a:srgbClr val="02809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8" name="Text 37"/>
          <p:cNvSpPr/>
          <p:nvPr/>
        </p:nvSpPr>
        <p:spPr>
          <a:xfrm>
            <a:off x="6922080" y="3003840"/>
            <a:ext cx="397440" cy="30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600" spc="-1" strike="noStrike">
                <a:solidFill>
                  <a:srgbClr val="0d1321"/>
                </a:solidFill>
                <a:latin typeface="Calibri"/>
                <a:ea typeface="Calibri"/>
              </a:rPr>
              <a:t>1</a:t>
            </a:r>
            <a:endParaRPr b="0" lang="en-US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" name="Shape 38"/>
          <p:cNvSpPr/>
          <p:nvPr/>
        </p:nvSpPr>
        <p:spPr>
          <a:xfrm>
            <a:off x="7727040" y="3035880"/>
            <a:ext cx="397440" cy="277920"/>
          </a:xfrm>
          <a:prstGeom prst="roundRect">
            <a:avLst>
              <a:gd name="adj" fmla="val 10976"/>
            </a:avLst>
          </a:prstGeom>
          <a:solidFill>
            <a:srgbClr val="02c39a"/>
          </a:solidFill>
          <a:ln w="12700">
            <a:solidFill>
              <a:srgbClr val="02809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0" name="Text 39"/>
          <p:cNvSpPr/>
          <p:nvPr/>
        </p:nvSpPr>
        <p:spPr>
          <a:xfrm>
            <a:off x="7727040" y="3035880"/>
            <a:ext cx="397440" cy="27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600" spc="-1" strike="noStrike">
                <a:solidFill>
                  <a:srgbClr val="0d1321"/>
                </a:solidFill>
                <a:latin typeface="Calibri"/>
                <a:ea typeface="Calibri"/>
              </a:rPr>
              <a:t>2</a:t>
            </a:r>
            <a:endParaRPr b="0" lang="en-US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" name="Shape 40"/>
          <p:cNvSpPr/>
          <p:nvPr/>
        </p:nvSpPr>
        <p:spPr>
          <a:xfrm>
            <a:off x="6113160" y="3035880"/>
            <a:ext cx="397440" cy="277920"/>
          </a:xfrm>
          <a:prstGeom prst="roundRect">
            <a:avLst>
              <a:gd name="adj" fmla="val 10976"/>
            </a:avLst>
          </a:prstGeom>
          <a:solidFill>
            <a:srgbClr val="eef2fa"/>
          </a:solidFill>
          <a:ln w="12700">
            <a:solidFill>
              <a:srgbClr val="02809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" name="Shape 41"/>
          <p:cNvSpPr/>
          <p:nvPr/>
        </p:nvSpPr>
        <p:spPr>
          <a:xfrm>
            <a:off x="6117120" y="3808440"/>
            <a:ext cx="397440" cy="277920"/>
          </a:xfrm>
          <a:prstGeom prst="roundRect">
            <a:avLst>
              <a:gd name="adj" fmla="val 10976"/>
            </a:avLst>
          </a:prstGeom>
          <a:solidFill>
            <a:srgbClr val="02c39a"/>
          </a:solidFill>
          <a:ln w="12700">
            <a:solidFill>
              <a:srgbClr val="02809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3" name="Text 42"/>
          <p:cNvSpPr/>
          <p:nvPr/>
        </p:nvSpPr>
        <p:spPr>
          <a:xfrm>
            <a:off x="6117120" y="3808440"/>
            <a:ext cx="397440" cy="27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600" spc="-1" strike="noStrike">
                <a:solidFill>
                  <a:srgbClr val="0d1321"/>
                </a:solidFill>
                <a:latin typeface="Calibri"/>
                <a:ea typeface="Calibri"/>
              </a:rPr>
              <a:t>3</a:t>
            </a:r>
            <a:endParaRPr b="0" lang="en-US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4" name="Shape 43"/>
          <p:cNvSpPr/>
          <p:nvPr/>
        </p:nvSpPr>
        <p:spPr>
          <a:xfrm>
            <a:off x="6922080" y="3808440"/>
            <a:ext cx="397440" cy="277920"/>
          </a:xfrm>
          <a:prstGeom prst="roundRect">
            <a:avLst>
              <a:gd name="adj" fmla="val 10976"/>
            </a:avLst>
          </a:prstGeom>
          <a:solidFill>
            <a:srgbClr val="02c39a"/>
          </a:solidFill>
          <a:ln w="12700">
            <a:solidFill>
              <a:srgbClr val="02809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5" name="Text 44"/>
          <p:cNvSpPr/>
          <p:nvPr/>
        </p:nvSpPr>
        <p:spPr>
          <a:xfrm>
            <a:off x="6922080" y="3808440"/>
            <a:ext cx="397440" cy="27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600" spc="-1" strike="noStrike">
                <a:solidFill>
                  <a:srgbClr val="0d1321"/>
                </a:solidFill>
                <a:latin typeface="Calibri"/>
                <a:ea typeface="Calibri"/>
              </a:rPr>
              <a:t>4</a:t>
            </a:r>
            <a:endParaRPr b="0" lang="en-US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6" name="Shape 45"/>
          <p:cNvSpPr/>
          <p:nvPr/>
        </p:nvSpPr>
        <p:spPr>
          <a:xfrm>
            <a:off x="7726680" y="3808440"/>
            <a:ext cx="397440" cy="277920"/>
          </a:xfrm>
          <a:prstGeom prst="roundRect">
            <a:avLst>
              <a:gd name="adj" fmla="val 10976"/>
            </a:avLst>
          </a:prstGeom>
          <a:solidFill>
            <a:srgbClr val="02c39a"/>
          </a:solidFill>
          <a:ln w="12700">
            <a:solidFill>
              <a:srgbClr val="02809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7" name="Text 46"/>
          <p:cNvSpPr/>
          <p:nvPr/>
        </p:nvSpPr>
        <p:spPr>
          <a:xfrm>
            <a:off x="7726680" y="3808440"/>
            <a:ext cx="397440" cy="27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600" spc="-1" strike="noStrike">
                <a:solidFill>
                  <a:srgbClr val="0d1321"/>
                </a:solidFill>
                <a:latin typeface="Calibri"/>
                <a:ea typeface="Calibri"/>
              </a:rPr>
              <a:t>5</a:t>
            </a:r>
            <a:endParaRPr b="0" lang="en-US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8" name="Shape 47"/>
          <p:cNvSpPr/>
          <p:nvPr/>
        </p:nvSpPr>
        <p:spPr>
          <a:xfrm>
            <a:off x="6117120" y="4613400"/>
            <a:ext cx="397440" cy="277920"/>
          </a:xfrm>
          <a:prstGeom prst="roundRect">
            <a:avLst>
              <a:gd name="adj" fmla="val 10976"/>
            </a:avLst>
          </a:prstGeom>
          <a:solidFill>
            <a:srgbClr val="02c39a"/>
          </a:solidFill>
          <a:ln w="12700">
            <a:solidFill>
              <a:srgbClr val="02809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9" name="Text 48"/>
          <p:cNvSpPr/>
          <p:nvPr/>
        </p:nvSpPr>
        <p:spPr>
          <a:xfrm>
            <a:off x="6117120" y="4613400"/>
            <a:ext cx="397440" cy="27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600" spc="-1" strike="noStrike">
                <a:solidFill>
                  <a:srgbClr val="0d1321"/>
                </a:solidFill>
                <a:latin typeface="Calibri"/>
                <a:ea typeface="Calibri"/>
              </a:rPr>
              <a:t>6</a:t>
            </a:r>
            <a:endParaRPr b="0" lang="en-US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0" name="Shape 49"/>
          <p:cNvSpPr/>
          <p:nvPr/>
        </p:nvSpPr>
        <p:spPr>
          <a:xfrm>
            <a:off x="6922080" y="4613400"/>
            <a:ext cx="397440" cy="277920"/>
          </a:xfrm>
          <a:prstGeom prst="roundRect">
            <a:avLst>
              <a:gd name="adj" fmla="val 10976"/>
            </a:avLst>
          </a:prstGeom>
          <a:solidFill>
            <a:srgbClr val="02c39a"/>
          </a:solidFill>
          <a:ln w="12700">
            <a:solidFill>
              <a:srgbClr val="02809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1" name="Text 50"/>
          <p:cNvSpPr/>
          <p:nvPr/>
        </p:nvSpPr>
        <p:spPr>
          <a:xfrm>
            <a:off x="6922080" y="4613400"/>
            <a:ext cx="397440" cy="27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600" spc="-1" strike="noStrike">
                <a:solidFill>
                  <a:srgbClr val="0d1321"/>
                </a:solidFill>
                <a:latin typeface="Calibri"/>
                <a:ea typeface="Calibri"/>
              </a:rPr>
              <a:t>7</a:t>
            </a:r>
            <a:endParaRPr b="0" lang="en-US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2" name="Shape 51"/>
          <p:cNvSpPr/>
          <p:nvPr/>
        </p:nvSpPr>
        <p:spPr>
          <a:xfrm>
            <a:off x="7726680" y="4613400"/>
            <a:ext cx="397440" cy="277920"/>
          </a:xfrm>
          <a:prstGeom prst="roundRect">
            <a:avLst>
              <a:gd name="adj" fmla="val 10976"/>
            </a:avLst>
          </a:prstGeom>
          <a:solidFill>
            <a:srgbClr val="02c39a"/>
          </a:solidFill>
          <a:ln w="12700">
            <a:solidFill>
              <a:srgbClr val="02809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3" name="Text 52"/>
          <p:cNvSpPr/>
          <p:nvPr/>
        </p:nvSpPr>
        <p:spPr>
          <a:xfrm>
            <a:off x="7726680" y="4613400"/>
            <a:ext cx="397440" cy="27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600" spc="-1" strike="noStrike">
                <a:solidFill>
                  <a:srgbClr val="0d1321"/>
                </a:solidFill>
                <a:latin typeface="Calibri"/>
                <a:ea typeface="Calibri"/>
              </a:rPr>
              <a:t>8</a:t>
            </a:r>
            <a:endParaRPr b="0" lang="en-US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4" name="Text 53"/>
          <p:cNvSpPr/>
          <p:nvPr/>
        </p:nvSpPr>
        <p:spPr>
          <a:xfrm>
            <a:off x="502920" y="4663440"/>
            <a:ext cx="8228880" cy="25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8892b0"/>
                </a:solidFill>
                <a:latin typeface="Calibri"/>
                <a:ea typeface="Calibri"/>
              </a:rPr>
              <a:t>KS2.1 · Prof. Wolff · BTU Cottbus-Senftenberg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Text 0"/>
          <p:cNvSpPr/>
          <p:nvPr/>
        </p:nvSpPr>
        <p:spPr>
          <a:xfrm>
            <a:off x="502920" y="320040"/>
            <a:ext cx="8228880" cy="54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600" spc="-1" strike="noStrike">
                <a:solidFill>
                  <a:srgbClr val="ffffff"/>
                </a:solidFill>
                <a:latin typeface="Cambria"/>
                <a:ea typeface="Cambria"/>
              </a:rPr>
              <a:t>Breadth-First Search</a:t>
            </a:r>
            <a:endParaRPr b="0" lang="en-US" sz="3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6" name="Text 1"/>
          <p:cNvSpPr/>
          <p:nvPr/>
        </p:nvSpPr>
        <p:spPr>
          <a:xfrm>
            <a:off x="502920" y="868680"/>
            <a:ext cx="457128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500" spc="-1" strike="noStrike">
                <a:solidFill>
                  <a:srgbClr val="02c39a"/>
                </a:solidFill>
                <a:latin typeface="Calibri"/>
                <a:ea typeface="Calibri"/>
              </a:rPr>
              <a:t>Uninformed Search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7" name="Shape 2"/>
          <p:cNvSpPr/>
          <p:nvPr/>
        </p:nvSpPr>
        <p:spPr>
          <a:xfrm>
            <a:off x="502920" y="1371600"/>
            <a:ext cx="8228880" cy="438120"/>
          </a:xfrm>
          <a:prstGeom prst="roundRect">
            <a:avLst>
              <a:gd name="adj" fmla="val 12500"/>
            </a:avLst>
          </a:prstGeom>
          <a:solidFill>
            <a:srgbClr val="242a4a"/>
          </a:solidFill>
          <a:ln w="12700">
            <a:solidFill>
              <a:srgbClr val="02809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8" name="Text 3"/>
          <p:cNvSpPr/>
          <p:nvPr/>
        </p:nvSpPr>
        <p:spPr>
          <a:xfrm>
            <a:off x="658440" y="1371600"/>
            <a:ext cx="1599480" cy="43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02c39a"/>
                </a:solidFill>
                <a:latin typeface="Calibri"/>
                <a:ea typeface="Calibri"/>
              </a:rPr>
              <a:t>Frontier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9" name="Text 4"/>
          <p:cNvSpPr/>
          <p:nvPr/>
        </p:nvSpPr>
        <p:spPr>
          <a:xfrm>
            <a:off x="2331720" y="1371600"/>
            <a:ext cx="6217200" cy="43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pc="-1" strike="noStrike">
                <a:solidFill>
                  <a:srgbClr val="cadcfc"/>
                </a:solidFill>
                <a:latin typeface="Calibri"/>
                <a:ea typeface="Calibri"/>
              </a:rPr>
              <a:t>FIFO queue (deque) — explores all nodes at depth d before d+1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0" name="Shape 5"/>
          <p:cNvSpPr/>
          <p:nvPr/>
        </p:nvSpPr>
        <p:spPr>
          <a:xfrm>
            <a:off x="502920" y="1901880"/>
            <a:ext cx="8228880" cy="438120"/>
          </a:xfrm>
          <a:prstGeom prst="roundRect">
            <a:avLst>
              <a:gd name="adj" fmla="val 12500"/>
            </a:avLst>
          </a:prstGeom>
          <a:solidFill>
            <a:srgbClr val="1e2444"/>
          </a:solidFill>
          <a:ln w="12700">
            <a:solidFill>
              <a:srgbClr val="02809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1" name="Text 6"/>
          <p:cNvSpPr/>
          <p:nvPr/>
        </p:nvSpPr>
        <p:spPr>
          <a:xfrm>
            <a:off x="658440" y="1901880"/>
            <a:ext cx="1599480" cy="43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02c39a"/>
                </a:solidFill>
                <a:latin typeface="Calibri"/>
                <a:ea typeface="Calibri"/>
              </a:rPr>
              <a:t>Completeness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2" name="Text 7"/>
          <p:cNvSpPr/>
          <p:nvPr/>
        </p:nvSpPr>
        <p:spPr>
          <a:xfrm>
            <a:off x="2331720" y="1901880"/>
            <a:ext cx="6217200" cy="43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pc="-1" strike="noStrike">
                <a:solidFill>
                  <a:srgbClr val="cadcfc"/>
                </a:solidFill>
                <a:latin typeface="Calibri"/>
                <a:ea typeface="Calibri"/>
              </a:rPr>
              <a:t>Complete — will always find a solution if one exists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3" name="Shape 8"/>
          <p:cNvSpPr/>
          <p:nvPr/>
        </p:nvSpPr>
        <p:spPr>
          <a:xfrm>
            <a:off x="502920" y="2432160"/>
            <a:ext cx="8228880" cy="438120"/>
          </a:xfrm>
          <a:prstGeom prst="roundRect">
            <a:avLst>
              <a:gd name="adj" fmla="val 12500"/>
            </a:avLst>
          </a:prstGeom>
          <a:solidFill>
            <a:srgbClr val="242a4a"/>
          </a:solidFill>
          <a:ln w="12700">
            <a:solidFill>
              <a:srgbClr val="02809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4" name="Text 9"/>
          <p:cNvSpPr/>
          <p:nvPr/>
        </p:nvSpPr>
        <p:spPr>
          <a:xfrm>
            <a:off x="658440" y="2432160"/>
            <a:ext cx="1599480" cy="43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02c39a"/>
                </a:solidFill>
                <a:latin typeface="Calibri"/>
                <a:ea typeface="Calibri"/>
              </a:rPr>
              <a:t>Optimality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5" name="Text 10"/>
          <p:cNvSpPr/>
          <p:nvPr/>
        </p:nvSpPr>
        <p:spPr>
          <a:xfrm>
            <a:off x="2331720" y="2432160"/>
            <a:ext cx="6217200" cy="43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pc="-1" strike="noStrike">
                <a:solidFill>
                  <a:srgbClr val="cadcfc"/>
                </a:solidFill>
                <a:latin typeface="Calibri"/>
                <a:ea typeface="Calibri"/>
              </a:rPr>
              <a:t>Optimal for unit-cost steps — shortest path guaranteed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6" name="Shape 11"/>
          <p:cNvSpPr/>
          <p:nvPr/>
        </p:nvSpPr>
        <p:spPr>
          <a:xfrm>
            <a:off x="502920" y="2962800"/>
            <a:ext cx="8228880" cy="438120"/>
          </a:xfrm>
          <a:prstGeom prst="roundRect">
            <a:avLst>
              <a:gd name="adj" fmla="val 12500"/>
            </a:avLst>
          </a:prstGeom>
          <a:solidFill>
            <a:srgbClr val="1e2444"/>
          </a:solidFill>
          <a:ln w="12700">
            <a:solidFill>
              <a:srgbClr val="02809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7" name="Text 12"/>
          <p:cNvSpPr/>
          <p:nvPr/>
        </p:nvSpPr>
        <p:spPr>
          <a:xfrm>
            <a:off x="658440" y="2962800"/>
            <a:ext cx="1599480" cy="43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02c39a"/>
                </a:solidFill>
                <a:latin typeface="Calibri"/>
                <a:ea typeface="Calibri"/>
              </a:rPr>
              <a:t>Time complexity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8" name="Text 13"/>
          <p:cNvSpPr/>
          <p:nvPr/>
        </p:nvSpPr>
        <p:spPr>
          <a:xfrm>
            <a:off x="2331720" y="2962800"/>
            <a:ext cx="6217200" cy="43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pc="-1" strike="noStrike">
                <a:solidFill>
                  <a:srgbClr val="cadcfc"/>
                </a:solidFill>
                <a:latin typeface="Calibri"/>
                <a:ea typeface="Calibri"/>
              </a:rPr>
              <a:t>O(bᵈ) — exponential in solution depth d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9" name="Shape 14"/>
          <p:cNvSpPr/>
          <p:nvPr/>
        </p:nvSpPr>
        <p:spPr>
          <a:xfrm>
            <a:off x="502920" y="3493080"/>
            <a:ext cx="8228880" cy="438120"/>
          </a:xfrm>
          <a:prstGeom prst="roundRect">
            <a:avLst>
              <a:gd name="adj" fmla="val 12500"/>
            </a:avLst>
          </a:prstGeom>
          <a:solidFill>
            <a:srgbClr val="242a4a"/>
          </a:solidFill>
          <a:ln w="12700">
            <a:solidFill>
              <a:srgbClr val="02809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0" name="Text 15"/>
          <p:cNvSpPr/>
          <p:nvPr/>
        </p:nvSpPr>
        <p:spPr>
          <a:xfrm>
            <a:off x="658440" y="3493080"/>
            <a:ext cx="1599480" cy="43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02c39a"/>
                </a:solidFill>
                <a:latin typeface="Calibri"/>
                <a:ea typeface="Calibri"/>
              </a:rPr>
              <a:t>Space complexity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1" name="Text 16"/>
          <p:cNvSpPr/>
          <p:nvPr/>
        </p:nvSpPr>
        <p:spPr>
          <a:xfrm>
            <a:off x="2331720" y="3493080"/>
            <a:ext cx="6217200" cy="43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pc="-1" strike="noStrike">
                <a:solidFill>
                  <a:srgbClr val="cadcfc"/>
                </a:solidFill>
                <a:latin typeface="Calibri"/>
                <a:ea typeface="Calibri"/>
              </a:rPr>
              <a:t>O(bᵈ) — must store all discovered states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2" name="Shape 17"/>
          <p:cNvSpPr/>
          <p:nvPr/>
        </p:nvSpPr>
        <p:spPr>
          <a:xfrm>
            <a:off x="502920" y="4023360"/>
            <a:ext cx="8228880" cy="438120"/>
          </a:xfrm>
          <a:prstGeom prst="roundRect">
            <a:avLst>
              <a:gd name="adj" fmla="val 12500"/>
            </a:avLst>
          </a:prstGeom>
          <a:solidFill>
            <a:srgbClr val="1e2444"/>
          </a:solidFill>
          <a:ln w="12700">
            <a:solidFill>
              <a:srgbClr val="02809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3" name="Text 18"/>
          <p:cNvSpPr/>
          <p:nvPr/>
        </p:nvSpPr>
        <p:spPr>
          <a:xfrm>
            <a:off x="658440" y="4023360"/>
            <a:ext cx="1599480" cy="43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02c39a"/>
                </a:solidFill>
                <a:latin typeface="Calibri"/>
                <a:ea typeface="Calibri"/>
              </a:rPr>
              <a:t>Key tradeoff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4" name="Text 19"/>
          <p:cNvSpPr/>
          <p:nvPr/>
        </p:nvSpPr>
        <p:spPr>
          <a:xfrm>
            <a:off x="2331720" y="4023360"/>
            <a:ext cx="6217200" cy="43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pc="-1" strike="noStrike">
                <a:solidFill>
                  <a:srgbClr val="cadcfc"/>
                </a:solidFill>
                <a:latin typeface="Calibri"/>
                <a:ea typeface="Calibri"/>
              </a:rPr>
              <a:t>Finds optimal solution but consumes large memory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5" name="Shape 20"/>
          <p:cNvSpPr/>
          <p:nvPr/>
        </p:nvSpPr>
        <p:spPr>
          <a:xfrm>
            <a:off x="502920" y="4572000"/>
            <a:ext cx="8228880" cy="346680"/>
          </a:xfrm>
          <a:prstGeom prst="roundRect">
            <a:avLst>
              <a:gd name="adj" fmla="val 13158"/>
            </a:avLst>
          </a:prstGeom>
          <a:solidFill>
            <a:srgbClr val="028090"/>
          </a:solidFill>
          <a:ln w="12700">
            <a:solidFill>
              <a:srgbClr val="02809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6" name="Text 21"/>
          <p:cNvSpPr/>
          <p:nvPr/>
        </p:nvSpPr>
        <p:spPr>
          <a:xfrm>
            <a:off x="502920" y="4572000"/>
            <a:ext cx="8228880" cy="34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pc="-1" strike="noStrike">
                <a:solidFill>
                  <a:srgbClr val="ffffff"/>
                </a:solidFill>
                <a:latin typeface="Calibri"/>
                <a:ea typeface="Calibri"/>
              </a:rPr>
              <a:t>Implementation: collections.deque  ·  No external search libraries used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Text 0"/>
          <p:cNvSpPr/>
          <p:nvPr/>
        </p:nvSpPr>
        <p:spPr>
          <a:xfrm>
            <a:off x="502920" y="320040"/>
            <a:ext cx="8228880" cy="54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600" spc="-1" strike="noStrike">
                <a:solidFill>
                  <a:srgbClr val="1e2761"/>
                </a:solidFill>
                <a:latin typeface="Cambria"/>
                <a:ea typeface="Cambria"/>
              </a:rPr>
              <a:t>A* Search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8" name="Text 1"/>
          <p:cNvSpPr/>
          <p:nvPr/>
        </p:nvSpPr>
        <p:spPr>
          <a:xfrm>
            <a:off x="502920" y="868680"/>
            <a:ext cx="594288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500" spc="-1" strike="noStrike">
                <a:solidFill>
                  <a:srgbClr val="028090"/>
                </a:solidFill>
                <a:latin typeface="Calibri"/>
                <a:ea typeface="Calibri"/>
              </a:rPr>
              <a:t>Informed Search with Admissible Heuristic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9" name="Shape 2"/>
          <p:cNvSpPr/>
          <p:nvPr/>
        </p:nvSpPr>
        <p:spPr>
          <a:xfrm>
            <a:off x="502920" y="1325880"/>
            <a:ext cx="5074200" cy="959400"/>
          </a:xfrm>
          <a:prstGeom prst="roundRect">
            <a:avLst>
              <a:gd name="adj" fmla="val 9524"/>
            </a:avLst>
          </a:prstGeom>
          <a:solidFill>
            <a:srgbClr val="1e2761"/>
          </a:solidFill>
          <a:ln w="12700">
            <a:solidFill>
              <a:srgbClr val="02809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0" name="Text 3"/>
          <p:cNvSpPr/>
          <p:nvPr/>
        </p:nvSpPr>
        <p:spPr>
          <a:xfrm>
            <a:off x="502920" y="1325880"/>
            <a:ext cx="5074200" cy="959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000" spc="-1" strike="noStrike">
                <a:solidFill>
                  <a:srgbClr val="ffffff"/>
                </a:solidFill>
                <a:latin typeface="Cambria"/>
                <a:ea typeface="Cambria"/>
              </a:rPr>
              <a:t>f(n)  =  g(n)  +  h(n)</a:t>
            </a:r>
            <a:endParaRPr b="0" lang="en-US" sz="3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1" name="Text 4"/>
          <p:cNvSpPr/>
          <p:nvPr/>
        </p:nvSpPr>
        <p:spPr>
          <a:xfrm>
            <a:off x="685800" y="2423160"/>
            <a:ext cx="822240" cy="38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rgbClr val="ffffff"/>
                </a:solidFill>
                <a:latin typeface="Cambria"/>
                <a:ea typeface="Cambria"/>
              </a:rPr>
              <a:t>f(n):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2" name="Text 5"/>
          <p:cNvSpPr/>
          <p:nvPr/>
        </p:nvSpPr>
        <p:spPr>
          <a:xfrm>
            <a:off x="1554480" y="2423160"/>
            <a:ext cx="3839760" cy="38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pc="-1" strike="noStrike">
                <a:solidFill>
                  <a:srgbClr val="0d1321"/>
                </a:solidFill>
                <a:latin typeface="Calibri"/>
                <a:ea typeface="Calibri"/>
              </a:rPr>
              <a:t>total estimated cost of the path through n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3" name="Text 6"/>
          <p:cNvSpPr/>
          <p:nvPr/>
        </p:nvSpPr>
        <p:spPr>
          <a:xfrm>
            <a:off x="685800" y="2880360"/>
            <a:ext cx="822240" cy="38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rgbClr val="cadcfc"/>
                </a:solidFill>
                <a:latin typeface="Cambria"/>
                <a:ea typeface="Cambria"/>
              </a:rPr>
              <a:t>g(n):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4" name="Text 7"/>
          <p:cNvSpPr/>
          <p:nvPr/>
        </p:nvSpPr>
        <p:spPr>
          <a:xfrm>
            <a:off x="1554480" y="2880360"/>
            <a:ext cx="3839760" cy="38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pc="-1" strike="noStrike">
                <a:solidFill>
                  <a:srgbClr val="0d1321"/>
                </a:solidFill>
                <a:latin typeface="Calibri"/>
                <a:ea typeface="Calibri"/>
              </a:rPr>
              <a:t>exact cost (number of moves) from start to n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5" name="Text 8"/>
          <p:cNvSpPr/>
          <p:nvPr/>
        </p:nvSpPr>
        <p:spPr>
          <a:xfrm>
            <a:off x="685800" y="3337560"/>
            <a:ext cx="822240" cy="38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rgbClr val="02c39a"/>
                </a:solidFill>
                <a:latin typeface="Cambria"/>
                <a:ea typeface="Cambria"/>
              </a:rPr>
              <a:t>h(n):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6" name="Text 9"/>
          <p:cNvSpPr/>
          <p:nvPr/>
        </p:nvSpPr>
        <p:spPr>
          <a:xfrm>
            <a:off x="1554480" y="3337560"/>
            <a:ext cx="3839760" cy="38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pc="-1" strike="noStrike">
                <a:solidFill>
                  <a:srgbClr val="0d1321"/>
                </a:solidFill>
                <a:latin typeface="Calibri"/>
                <a:ea typeface="Calibri"/>
              </a:rPr>
              <a:t>heuristic estimate from n to goal (admissible)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7" name="Shape 10"/>
          <p:cNvSpPr/>
          <p:nvPr/>
        </p:nvSpPr>
        <p:spPr>
          <a:xfrm>
            <a:off x="5806440" y="1325880"/>
            <a:ext cx="2925360" cy="566280"/>
          </a:xfrm>
          <a:prstGeom prst="roundRect">
            <a:avLst>
              <a:gd name="adj" fmla="val 11290"/>
            </a:avLst>
          </a:prstGeom>
          <a:solidFill>
            <a:srgbClr val="eef2fa"/>
          </a:solidFill>
          <a:ln w="12700">
            <a:solidFill>
              <a:srgbClr val="02809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8" name="Text 11"/>
          <p:cNvSpPr/>
          <p:nvPr/>
        </p:nvSpPr>
        <p:spPr>
          <a:xfrm>
            <a:off x="5961960" y="1362600"/>
            <a:ext cx="2742480" cy="23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028090"/>
                </a:solidFill>
                <a:latin typeface="Calibri"/>
                <a:ea typeface="Calibri"/>
              </a:rPr>
              <a:t>Frontier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9" name="Text 12"/>
          <p:cNvSpPr/>
          <p:nvPr/>
        </p:nvSpPr>
        <p:spPr>
          <a:xfrm>
            <a:off x="5961960" y="1600200"/>
            <a:ext cx="2742480" cy="23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0d1321"/>
                </a:solidFill>
                <a:latin typeface="Calibri"/>
                <a:ea typeface="Calibri"/>
              </a:rPr>
              <a:t>Min-heap (heapq) ordered by f(n)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0" name="Shape 13"/>
          <p:cNvSpPr/>
          <p:nvPr/>
        </p:nvSpPr>
        <p:spPr>
          <a:xfrm>
            <a:off x="5806440" y="1984320"/>
            <a:ext cx="2925360" cy="566280"/>
          </a:xfrm>
          <a:prstGeom prst="roundRect">
            <a:avLst>
              <a:gd name="adj" fmla="val 11290"/>
            </a:avLst>
          </a:prstGeom>
          <a:solidFill>
            <a:srgbClr val="eef2fa"/>
          </a:solidFill>
          <a:ln w="12700">
            <a:solidFill>
              <a:srgbClr val="02809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1" name="Text 14"/>
          <p:cNvSpPr/>
          <p:nvPr/>
        </p:nvSpPr>
        <p:spPr>
          <a:xfrm>
            <a:off x="5961960" y="2020680"/>
            <a:ext cx="2742480" cy="23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028090"/>
                </a:solidFill>
                <a:latin typeface="Calibri"/>
                <a:ea typeface="Calibri"/>
              </a:rPr>
              <a:t>Completeness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2" name="Text 15"/>
          <p:cNvSpPr/>
          <p:nvPr/>
        </p:nvSpPr>
        <p:spPr>
          <a:xfrm>
            <a:off x="5961960" y="2258640"/>
            <a:ext cx="2742480" cy="23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0d1321"/>
                </a:solidFill>
                <a:latin typeface="Calibri"/>
                <a:ea typeface="Calibri"/>
              </a:rPr>
              <a:t>Complete with admissible heuristic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3" name="Shape 16"/>
          <p:cNvSpPr/>
          <p:nvPr/>
        </p:nvSpPr>
        <p:spPr>
          <a:xfrm>
            <a:off x="5806440" y="2642760"/>
            <a:ext cx="2925360" cy="566280"/>
          </a:xfrm>
          <a:prstGeom prst="roundRect">
            <a:avLst>
              <a:gd name="adj" fmla="val 11290"/>
            </a:avLst>
          </a:prstGeom>
          <a:solidFill>
            <a:srgbClr val="eef2fa"/>
          </a:solidFill>
          <a:ln w="12700">
            <a:solidFill>
              <a:srgbClr val="02809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4" name="Text 17"/>
          <p:cNvSpPr/>
          <p:nvPr/>
        </p:nvSpPr>
        <p:spPr>
          <a:xfrm>
            <a:off x="5961960" y="2679120"/>
            <a:ext cx="2742480" cy="23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028090"/>
                </a:solidFill>
                <a:latin typeface="Calibri"/>
                <a:ea typeface="Calibri"/>
              </a:rPr>
              <a:t>Optimality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5" name="Text 18"/>
          <p:cNvSpPr/>
          <p:nvPr/>
        </p:nvSpPr>
        <p:spPr>
          <a:xfrm>
            <a:off x="5961960" y="2917080"/>
            <a:ext cx="2742480" cy="23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0d1321"/>
                </a:solidFill>
                <a:latin typeface="Calibri"/>
                <a:ea typeface="Calibri"/>
              </a:rPr>
              <a:t>Optimal — never overestimates cost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6" name="Shape 19"/>
          <p:cNvSpPr/>
          <p:nvPr/>
        </p:nvSpPr>
        <p:spPr>
          <a:xfrm>
            <a:off x="5806440" y="3300840"/>
            <a:ext cx="2925360" cy="566280"/>
          </a:xfrm>
          <a:prstGeom prst="roundRect">
            <a:avLst>
              <a:gd name="adj" fmla="val 11290"/>
            </a:avLst>
          </a:prstGeom>
          <a:solidFill>
            <a:srgbClr val="eef2fa"/>
          </a:solidFill>
          <a:ln w="12700">
            <a:solidFill>
              <a:srgbClr val="02809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7" name="Text 20"/>
          <p:cNvSpPr/>
          <p:nvPr/>
        </p:nvSpPr>
        <p:spPr>
          <a:xfrm>
            <a:off x="5961960" y="3337560"/>
            <a:ext cx="2742480" cy="23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028090"/>
                </a:solidFill>
                <a:latin typeface="Calibri"/>
                <a:ea typeface="Calibri"/>
              </a:rPr>
              <a:t>Efficiency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8" name="Text 21"/>
          <p:cNvSpPr/>
          <p:nvPr/>
        </p:nvSpPr>
        <p:spPr>
          <a:xfrm>
            <a:off x="5961960" y="3575160"/>
            <a:ext cx="2742480" cy="23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0d1321"/>
                </a:solidFill>
                <a:latin typeface="Calibri"/>
                <a:ea typeface="Calibri"/>
              </a:rPr>
              <a:t>Expands far fewer nodes than BFS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9" name="Shape 22"/>
          <p:cNvSpPr/>
          <p:nvPr/>
        </p:nvSpPr>
        <p:spPr>
          <a:xfrm>
            <a:off x="5806440" y="3959280"/>
            <a:ext cx="2925360" cy="566280"/>
          </a:xfrm>
          <a:prstGeom prst="roundRect">
            <a:avLst>
              <a:gd name="adj" fmla="val 11290"/>
            </a:avLst>
          </a:prstGeom>
          <a:solidFill>
            <a:srgbClr val="eef2fa"/>
          </a:solidFill>
          <a:ln w="12700">
            <a:solidFill>
              <a:srgbClr val="02809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0" name="Text 23"/>
          <p:cNvSpPr/>
          <p:nvPr/>
        </p:nvSpPr>
        <p:spPr>
          <a:xfrm>
            <a:off x="5961960" y="3996000"/>
            <a:ext cx="2742480" cy="23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028090"/>
                </a:solidFill>
                <a:latin typeface="Calibri"/>
                <a:ea typeface="Calibri"/>
              </a:rPr>
              <a:t>Implementation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1" name="Text 24"/>
          <p:cNvSpPr/>
          <p:nvPr/>
        </p:nvSpPr>
        <p:spPr>
          <a:xfrm>
            <a:off x="5961960" y="4233600"/>
            <a:ext cx="2742480" cy="23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0d1321"/>
                </a:solidFill>
                <a:latin typeface="Calibri"/>
                <a:ea typeface="Calibri"/>
              </a:rPr>
              <a:t>heapq  ·  No external libraries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Text 0"/>
          <p:cNvSpPr/>
          <p:nvPr/>
        </p:nvSpPr>
        <p:spPr>
          <a:xfrm>
            <a:off x="502920" y="320040"/>
            <a:ext cx="8228880" cy="54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200" spc="-1" strike="noStrike">
                <a:solidFill>
                  <a:srgbClr val="1e2761"/>
                </a:solidFill>
                <a:latin typeface="Cambria"/>
                <a:ea typeface="Cambria"/>
              </a:rPr>
              <a:t>Admissible Heuristic: Manhattan Distance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3" name="Shape 1"/>
          <p:cNvSpPr/>
          <p:nvPr/>
        </p:nvSpPr>
        <p:spPr>
          <a:xfrm>
            <a:off x="502920" y="1005840"/>
            <a:ext cx="5119920" cy="685080"/>
          </a:xfrm>
          <a:prstGeom prst="roundRect">
            <a:avLst>
              <a:gd name="adj" fmla="val 10667"/>
            </a:avLst>
          </a:prstGeom>
          <a:solidFill>
            <a:srgbClr val="1e2761"/>
          </a:solidFill>
          <a:ln w="12700">
            <a:solidFill>
              <a:srgbClr val="02809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4" name="Text 2"/>
          <p:cNvSpPr/>
          <p:nvPr/>
        </p:nvSpPr>
        <p:spPr>
          <a:xfrm>
            <a:off x="502920" y="1005840"/>
            <a:ext cx="5119920" cy="68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mbria"/>
                <a:ea typeface="Cambria"/>
              </a:rPr>
              <a:t>h(n) = Σ |rowᵢ − row*ᵢ| + |colᵢ − col*ᵢ|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5" name="Shape 3"/>
          <p:cNvSpPr/>
          <p:nvPr/>
        </p:nvSpPr>
        <p:spPr>
          <a:xfrm>
            <a:off x="502920" y="1956960"/>
            <a:ext cx="273600" cy="273600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6" name="Text 4"/>
          <p:cNvSpPr/>
          <p:nvPr/>
        </p:nvSpPr>
        <p:spPr>
          <a:xfrm>
            <a:off x="502920" y="1929240"/>
            <a:ext cx="27360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0d1321"/>
                </a:solidFill>
                <a:latin typeface="Arial"/>
                <a:ea typeface="Arial"/>
              </a:rPr>
              <a:t>✓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7" name="Text 5"/>
          <p:cNvSpPr/>
          <p:nvPr/>
        </p:nvSpPr>
        <p:spPr>
          <a:xfrm>
            <a:off x="914400" y="1874520"/>
            <a:ext cx="4571280" cy="419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pc="-1" strike="noStrike">
                <a:solidFill>
                  <a:srgbClr val="0d1321"/>
                </a:solidFill>
                <a:latin typeface="Calibri"/>
                <a:ea typeface="Calibri"/>
              </a:rPr>
              <a:t>Each move shifts one tile exactly one step (row or column)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8" name="Shape 6"/>
          <p:cNvSpPr/>
          <p:nvPr/>
        </p:nvSpPr>
        <p:spPr>
          <a:xfrm>
            <a:off x="502920" y="2468880"/>
            <a:ext cx="273600" cy="273600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9" name="Text 7"/>
          <p:cNvSpPr/>
          <p:nvPr/>
        </p:nvSpPr>
        <p:spPr>
          <a:xfrm>
            <a:off x="502920" y="2441520"/>
            <a:ext cx="27360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0d1321"/>
                </a:solidFill>
                <a:latin typeface="Arial"/>
                <a:ea typeface="Arial"/>
              </a:rPr>
              <a:t>✓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0" name="Text 8"/>
          <p:cNvSpPr/>
          <p:nvPr/>
        </p:nvSpPr>
        <p:spPr>
          <a:xfrm>
            <a:off x="914400" y="2386440"/>
            <a:ext cx="4571280" cy="419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pc="-1" strike="noStrike">
                <a:solidFill>
                  <a:srgbClr val="0d1321"/>
                </a:solidFill>
                <a:latin typeface="Calibri"/>
                <a:ea typeface="Calibri"/>
              </a:rPr>
              <a:t>Manhattan distance counts the minimum moves for each tile ignoring others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1" name="Shape 9"/>
          <p:cNvSpPr/>
          <p:nvPr/>
        </p:nvSpPr>
        <p:spPr>
          <a:xfrm>
            <a:off x="502920" y="2980800"/>
            <a:ext cx="273600" cy="273600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2" name="Text 10"/>
          <p:cNvSpPr/>
          <p:nvPr/>
        </p:nvSpPr>
        <p:spPr>
          <a:xfrm>
            <a:off x="502920" y="2953440"/>
            <a:ext cx="27360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0d1321"/>
                </a:solidFill>
                <a:latin typeface="Arial"/>
                <a:ea typeface="Arial"/>
              </a:rPr>
              <a:t>✓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3" name="Text 11"/>
          <p:cNvSpPr/>
          <p:nvPr/>
        </p:nvSpPr>
        <p:spPr>
          <a:xfrm>
            <a:off x="914400" y="2898720"/>
            <a:ext cx="4571280" cy="419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pc="-1" strike="noStrike">
                <a:solidFill>
                  <a:srgbClr val="0d1321"/>
                </a:solidFill>
                <a:latin typeface="Calibri"/>
                <a:ea typeface="Calibri"/>
              </a:rPr>
              <a:t>It never overestimates actual moves → h(n) ≤ h*(n) → Admissible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4" name="Shape 12"/>
          <p:cNvSpPr/>
          <p:nvPr/>
        </p:nvSpPr>
        <p:spPr>
          <a:xfrm>
            <a:off x="502920" y="3493080"/>
            <a:ext cx="273600" cy="273600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5" name="Text 13"/>
          <p:cNvSpPr/>
          <p:nvPr/>
        </p:nvSpPr>
        <p:spPr>
          <a:xfrm>
            <a:off x="502920" y="3465720"/>
            <a:ext cx="27360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0d1321"/>
                </a:solidFill>
                <a:latin typeface="Arial"/>
                <a:ea typeface="Arial"/>
              </a:rPr>
              <a:t>✓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6" name="Text 14"/>
          <p:cNvSpPr/>
          <p:nvPr/>
        </p:nvSpPr>
        <p:spPr>
          <a:xfrm>
            <a:off x="914400" y="3410640"/>
            <a:ext cx="4571280" cy="419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pc="-1" strike="noStrike">
                <a:solidFill>
                  <a:srgbClr val="0d1321"/>
                </a:solidFill>
                <a:latin typeface="Calibri"/>
                <a:ea typeface="Calibri"/>
              </a:rPr>
              <a:t>Blank tile is excluded (it is not numbered and has no fixed goal position)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7" name="Shape 15"/>
          <p:cNvSpPr/>
          <p:nvPr/>
        </p:nvSpPr>
        <p:spPr>
          <a:xfrm>
            <a:off x="5760720" y="914400"/>
            <a:ext cx="2971080" cy="3748320"/>
          </a:xfrm>
          <a:prstGeom prst="roundRect">
            <a:avLst>
              <a:gd name="adj" fmla="val 3077"/>
            </a:avLst>
          </a:prstGeom>
          <a:solidFill>
            <a:srgbClr val="eef2fa"/>
          </a:solidFill>
          <a:ln w="12700">
            <a:solidFill>
              <a:srgbClr val="02809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8" name="Text 16"/>
          <p:cNvSpPr/>
          <p:nvPr/>
        </p:nvSpPr>
        <p:spPr>
          <a:xfrm>
            <a:off x="5897880" y="1005840"/>
            <a:ext cx="2696760" cy="34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1e2761"/>
                </a:solidFill>
                <a:latin typeface="Calibri"/>
                <a:ea typeface="Calibri"/>
              </a:rPr>
              <a:t>Example: Tile 8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9" name="Shape 17"/>
          <p:cNvSpPr/>
          <p:nvPr/>
        </p:nvSpPr>
        <p:spPr>
          <a:xfrm>
            <a:off x="5989320" y="1463040"/>
            <a:ext cx="502200" cy="502200"/>
          </a:xfrm>
          <a:prstGeom prst="roundRect">
            <a:avLst>
              <a:gd name="adj" fmla="val 10909"/>
            </a:avLst>
          </a:prstGeom>
          <a:solidFill>
            <a:srgbClr val="028090"/>
          </a:solidFill>
          <a:ln w="12700">
            <a:solidFill>
              <a:srgbClr val="02809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0" name="Text 18"/>
          <p:cNvSpPr/>
          <p:nvPr/>
        </p:nvSpPr>
        <p:spPr>
          <a:xfrm>
            <a:off x="5989320" y="1463040"/>
            <a:ext cx="50220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rgbClr val="ffffff"/>
                </a:solidFill>
                <a:latin typeface="Calibri"/>
                <a:ea typeface="Calibri"/>
              </a:rPr>
              <a:t>8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1" name="Shape 19"/>
          <p:cNvSpPr/>
          <p:nvPr/>
        </p:nvSpPr>
        <p:spPr>
          <a:xfrm>
            <a:off x="6528960" y="1463040"/>
            <a:ext cx="502200" cy="502200"/>
          </a:xfrm>
          <a:prstGeom prst="roundRect">
            <a:avLst>
              <a:gd name="adj" fmla="val 10909"/>
            </a:avLst>
          </a:prstGeom>
          <a:solidFill>
            <a:srgbClr val="1e2761"/>
          </a:solidFill>
          <a:ln w="12700">
            <a:solidFill>
              <a:srgbClr val="02809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2" name="Text 20"/>
          <p:cNvSpPr/>
          <p:nvPr/>
        </p:nvSpPr>
        <p:spPr>
          <a:xfrm>
            <a:off x="6528960" y="1463040"/>
            <a:ext cx="50220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rgbClr val="cadcfc"/>
                </a:solidFill>
                <a:latin typeface="Calibri"/>
                <a:ea typeface="Calibri"/>
              </a:rPr>
              <a:t>7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3" name="Shape 21"/>
          <p:cNvSpPr/>
          <p:nvPr/>
        </p:nvSpPr>
        <p:spPr>
          <a:xfrm>
            <a:off x="7068240" y="1463040"/>
            <a:ext cx="502200" cy="502200"/>
          </a:xfrm>
          <a:prstGeom prst="roundRect">
            <a:avLst>
              <a:gd name="adj" fmla="val 10909"/>
            </a:avLst>
          </a:prstGeom>
          <a:solidFill>
            <a:srgbClr val="1e2761"/>
          </a:solidFill>
          <a:ln w="12700">
            <a:solidFill>
              <a:srgbClr val="02809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4" name="Text 22"/>
          <p:cNvSpPr/>
          <p:nvPr/>
        </p:nvSpPr>
        <p:spPr>
          <a:xfrm>
            <a:off x="7068240" y="1463040"/>
            <a:ext cx="50220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rgbClr val="cadcfc"/>
                </a:solidFill>
                <a:latin typeface="Calibri"/>
                <a:ea typeface="Calibri"/>
              </a:rPr>
              <a:t>6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5" name="Shape 23"/>
          <p:cNvSpPr/>
          <p:nvPr/>
        </p:nvSpPr>
        <p:spPr>
          <a:xfrm>
            <a:off x="5989320" y="2002680"/>
            <a:ext cx="502200" cy="502200"/>
          </a:xfrm>
          <a:prstGeom prst="roundRect">
            <a:avLst>
              <a:gd name="adj" fmla="val 10909"/>
            </a:avLst>
          </a:prstGeom>
          <a:solidFill>
            <a:srgbClr val="1e2761"/>
          </a:solidFill>
          <a:ln w="12700">
            <a:solidFill>
              <a:srgbClr val="02809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6" name="Text 24"/>
          <p:cNvSpPr/>
          <p:nvPr/>
        </p:nvSpPr>
        <p:spPr>
          <a:xfrm>
            <a:off x="5989320" y="2002680"/>
            <a:ext cx="50220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rgbClr val="cadcfc"/>
                </a:solidFill>
                <a:latin typeface="Calibri"/>
                <a:ea typeface="Calibri"/>
              </a:rPr>
              <a:t>5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7" name="Shape 25"/>
          <p:cNvSpPr/>
          <p:nvPr/>
        </p:nvSpPr>
        <p:spPr>
          <a:xfrm>
            <a:off x="6528960" y="2002680"/>
            <a:ext cx="502200" cy="502200"/>
          </a:xfrm>
          <a:prstGeom prst="roundRect">
            <a:avLst>
              <a:gd name="adj" fmla="val 10909"/>
            </a:avLst>
          </a:prstGeom>
          <a:solidFill>
            <a:srgbClr val="1e2761"/>
          </a:solidFill>
          <a:ln w="12700">
            <a:solidFill>
              <a:srgbClr val="02809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8" name="Text 26"/>
          <p:cNvSpPr/>
          <p:nvPr/>
        </p:nvSpPr>
        <p:spPr>
          <a:xfrm>
            <a:off x="6528960" y="2002680"/>
            <a:ext cx="50220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rgbClr val="cadcfc"/>
                </a:solidFill>
                <a:latin typeface="Calibri"/>
                <a:ea typeface="Calibri"/>
              </a:rPr>
              <a:t>4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9" name="Shape 27"/>
          <p:cNvSpPr/>
          <p:nvPr/>
        </p:nvSpPr>
        <p:spPr>
          <a:xfrm>
            <a:off x="7068240" y="2002680"/>
            <a:ext cx="502200" cy="502200"/>
          </a:xfrm>
          <a:prstGeom prst="roundRect">
            <a:avLst>
              <a:gd name="adj" fmla="val 10909"/>
            </a:avLst>
          </a:prstGeom>
          <a:solidFill>
            <a:srgbClr val="1e2761"/>
          </a:solidFill>
          <a:ln w="12700">
            <a:solidFill>
              <a:srgbClr val="02809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0" name="Text 28"/>
          <p:cNvSpPr/>
          <p:nvPr/>
        </p:nvSpPr>
        <p:spPr>
          <a:xfrm>
            <a:off x="7068240" y="2002680"/>
            <a:ext cx="50220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rgbClr val="cadcfc"/>
                </a:solidFill>
                <a:latin typeface="Calibri"/>
                <a:ea typeface="Calibri"/>
              </a:rPr>
              <a:t>3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1" name="Shape 29"/>
          <p:cNvSpPr/>
          <p:nvPr/>
        </p:nvSpPr>
        <p:spPr>
          <a:xfrm>
            <a:off x="5989320" y="2541960"/>
            <a:ext cx="502200" cy="502200"/>
          </a:xfrm>
          <a:prstGeom prst="roundRect">
            <a:avLst>
              <a:gd name="adj" fmla="val 10909"/>
            </a:avLst>
          </a:prstGeom>
          <a:solidFill>
            <a:srgbClr val="1e2761"/>
          </a:solidFill>
          <a:ln w="12700">
            <a:solidFill>
              <a:srgbClr val="02809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2" name="Text 30"/>
          <p:cNvSpPr/>
          <p:nvPr/>
        </p:nvSpPr>
        <p:spPr>
          <a:xfrm>
            <a:off x="5989320" y="2541960"/>
            <a:ext cx="50220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rgbClr val="cadcfc"/>
                </a:solidFill>
                <a:latin typeface="Calibri"/>
                <a:ea typeface="Calibri"/>
              </a:rPr>
              <a:t>2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3" name="Shape 31"/>
          <p:cNvSpPr/>
          <p:nvPr/>
        </p:nvSpPr>
        <p:spPr>
          <a:xfrm>
            <a:off x="6528960" y="2541960"/>
            <a:ext cx="502200" cy="502200"/>
          </a:xfrm>
          <a:prstGeom prst="roundRect">
            <a:avLst>
              <a:gd name="adj" fmla="val 10909"/>
            </a:avLst>
          </a:prstGeom>
          <a:solidFill>
            <a:srgbClr val="1e2761"/>
          </a:solidFill>
          <a:ln w="12700">
            <a:solidFill>
              <a:srgbClr val="02809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4" name="Text 32"/>
          <p:cNvSpPr/>
          <p:nvPr/>
        </p:nvSpPr>
        <p:spPr>
          <a:xfrm>
            <a:off x="6528960" y="2541960"/>
            <a:ext cx="50220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rgbClr val="cadcfc"/>
                </a:solidFill>
                <a:latin typeface="Calibri"/>
                <a:ea typeface="Calibri"/>
              </a:rPr>
              <a:t>1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5" name="Shape 33"/>
          <p:cNvSpPr/>
          <p:nvPr/>
        </p:nvSpPr>
        <p:spPr>
          <a:xfrm>
            <a:off x="7068240" y="2541960"/>
            <a:ext cx="502200" cy="502200"/>
          </a:xfrm>
          <a:prstGeom prst="roundRect">
            <a:avLst>
              <a:gd name="adj" fmla="val 10909"/>
            </a:avLst>
          </a:prstGeom>
          <a:solidFill>
            <a:srgbClr val="f4f6fb"/>
          </a:solidFill>
          <a:ln w="12700">
            <a:solidFill>
              <a:srgbClr val="02809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6" name="Text 34"/>
          <p:cNvSpPr/>
          <p:nvPr/>
        </p:nvSpPr>
        <p:spPr>
          <a:xfrm>
            <a:off x="5897880" y="3154680"/>
            <a:ext cx="2696760" cy="1325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3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0d1321"/>
                </a:solidFill>
                <a:latin typeface="Calibri"/>
                <a:ea typeface="Calibri"/>
              </a:rPr>
              <a:t>Tile 8 is at (0,0) in start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3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0d1321"/>
                </a:solidFill>
                <a:latin typeface="Calibri"/>
                <a:ea typeface="Calibri"/>
              </a:rPr>
              <a:t>Goal position is (1,2)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3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0d1321"/>
                </a:solidFill>
                <a:latin typeface="Calibri"/>
                <a:ea typeface="Calibri"/>
              </a:rPr>
              <a:t>|0−1| + |0−2| = 1 + 2 = 3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7" name="Text 35"/>
          <p:cNvSpPr/>
          <p:nvPr/>
        </p:nvSpPr>
        <p:spPr>
          <a:xfrm>
            <a:off x="502920" y="4617720"/>
            <a:ext cx="82288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000" spc="-1" strike="noStrike">
                <a:solidFill>
                  <a:srgbClr val="8892b0"/>
                </a:solidFill>
                <a:latin typeface="Calibri"/>
                <a:ea typeface="Calibri"/>
              </a:rPr>
              <a:t>Also implemented: Misplaced Tiles heuristic (weaker, fewer nodes than BFS but more than Manhattan)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Text 0"/>
          <p:cNvSpPr/>
          <p:nvPr/>
        </p:nvSpPr>
        <p:spPr>
          <a:xfrm>
            <a:off x="502920" y="320040"/>
            <a:ext cx="8228880" cy="54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600" spc="-1" strike="noStrike">
                <a:solidFill>
                  <a:srgbClr val="ffffff"/>
                </a:solidFill>
                <a:latin typeface="Cambria"/>
                <a:ea typeface="Cambria"/>
              </a:rPr>
              <a:t>Experimental Results</a:t>
            </a:r>
            <a:endParaRPr b="0" lang="en-US" sz="3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9" name="Text 1"/>
          <p:cNvSpPr/>
          <p:nvPr/>
        </p:nvSpPr>
        <p:spPr>
          <a:xfrm>
            <a:off x="502920" y="868680"/>
            <a:ext cx="594288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400" spc="-1" strike="noStrike">
                <a:solidFill>
                  <a:srgbClr val="02c39a"/>
                </a:solidFill>
                <a:latin typeface="Calibri"/>
                <a:ea typeface="Calibri"/>
              </a:rPr>
              <a:t>Assignment puzzle  ·  python3 main.py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0" name="Shape 2"/>
          <p:cNvSpPr/>
          <p:nvPr/>
        </p:nvSpPr>
        <p:spPr>
          <a:xfrm>
            <a:off x="502920" y="1325880"/>
            <a:ext cx="2285280" cy="383400"/>
          </a:xfrm>
          <a:prstGeom prst="roundRect">
            <a:avLst>
              <a:gd name="adj" fmla="val 11905"/>
            </a:avLst>
          </a:prstGeom>
          <a:solidFill>
            <a:srgbClr val="028090"/>
          </a:solidFill>
          <a:ln w="12700">
            <a:solidFill>
              <a:srgbClr val="02809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1" name="Text 3"/>
          <p:cNvSpPr/>
          <p:nvPr/>
        </p:nvSpPr>
        <p:spPr>
          <a:xfrm>
            <a:off x="502920" y="1325880"/>
            <a:ext cx="2285280" cy="38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ffffff"/>
                </a:solidFill>
                <a:latin typeface="Calibri"/>
                <a:ea typeface="Calibri"/>
              </a:rPr>
              <a:t>Algorithm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2" name="Shape 4"/>
          <p:cNvSpPr/>
          <p:nvPr/>
        </p:nvSpPr>
        <p:spPr>
          <a:xfrm>
            <a:off x="2880360" y="1325880"/>
            <a:ext cx="1828080" cy="383400"/>
          </a:xfrm>
          <a:prstGeom prst="roundRect">
            <a:avLst>
              <a:gd name="adj" fmla="val 11905"/>
            </a:avLst>
          </a:prstGeom>
          <a:solidFill>
            <a:srgbClr val="028090"/>
          </a:solidFill>
          <a:ln w="12700">
            <a:solidFill>
              <a:srgbClr val="02809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3" name="Text 5"/>
          <p:cNvSpPr/>
          <p:nvPr/>
        </p:nvSpPr>
        <p:spPr>
          <a:xfrm>
            <a:off x="2880360" y="1325880"/>
            <a:ext cx="1828080" cy="38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ffffff"/>
                </a:solidFill>
                <a:latin typeface="Calibri"/>
                <a:ea typeface="Calibri"/>
              </a:rPr>
              <a:t>Heuristic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4" name="Shape 6"/>
          <p:cNvSpPr/>
          <p:nvPr/>
        </p:nvSpPr>
        <p:spPr>
          <a:xfrm>
            <a:off x="4800600" y="1325880"/>
            <a:ext cx="1416600" cy="383400"/>
          </a:xfrm>
          <a:prstGeom prst="roundRect">
            <a:avLst>
              <a:gd name="adj" fmla="val 11905"/>
            </a:avLst>
          </a:prstGeom>
          <a:solidFill>
            <a:srgbClr val="028090"/>
          </a:solidFill>
          <a:ln w="12700">
            <a:solidFill>
              <a:srgbClr val="02809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5" name="Text 7"/>
          <p:cNvSpPr/>
          <p:nvPr/>
        </p:nvSpPr>
        <p:spPr>
          <a:xfrm>
            <a:off x="4800600" y="1325880"/>
            <a:ext cx="1416600" cy="38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ffffff"/>
                </a:solidFill>
                <a:latin typeface="Calibri"/>
                <a:ea typeface="Calibri"/>
              </a:rPr>
              <a:t>Expansions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6" name="Shape 8"/>
          <p:cNvSpPr/>
          <p:nvPr/>
        </p:nvSpPr>
        <p:spPr>
          <a:xfrm>
            <a:off x="6291000" y="1325880"/>
            <a:ext cx="1416600" cy="383400"/>
          </a:xfrm>
          <a:prstGeom prst="roundRect">
            <a:avLst>
              <a:gd name="adj" fmla="val 11905"/>
            </a:avLst>
          </a:prstGeom>
          <a:solidFill>
            <a:srgbClr val="028090"/>
          </a:solidFill>
          <a:ln w="12700">
            <a:solidFill>
              <a:srgbClr val="02809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7" name="Text 9"/>
          <p:cNvSpPr/>
          <p:nvPr/>
        </p:nvSpPr>
        <p:spPr>
          <a:xfrm>
            <a:off x="6291000" y="1325880"/>
            <a:ext cx="1416600" cy="38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ffffff"/>
                </a:solidFill>
                <a:latin typeface="Calibri"/>
                <a:ea typeface="Calibri"/>
              </a:rPr>
              <a:t>Max Memory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8" name="Shape 10"/>
          <p:cNvSpPr/>
          <p:nvPr/>
        </p:nvSpPr>
        <p:spPr>
          <a:xfrm>
            <a:off x="7781400" y="1325880"/>
            <a:ext cx="950400" cy="383400"/>
          </a:xfrm>
          <a:prstGeom prst="roundRect">
            <a:avLst>
              <a:gd name="adj" fmla="val 11905"/>
            </a:avLst>
          </a:prstGeom>
          <a:solidFill>
            <a:srgbClr val="028090"/>
          </a:solidFill>
          <a:ln w="12700">
            <a:solidFill>
              <a:srgbClr val="02809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9" name="Text 11"/>
          <p:cNvSpPr/>
          <p:nvPr/>
        </p:nvSpPr>
        <p:spPr>
          <a:xfrm>
            <a:off x="7781400" y="1325880"/>
            <a:ext cx="950400" cy="38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ffffff"/>
                </a:solidFill>
                <a:latin typeface="Calibri"/>
                <a:ea typeface="Calibri"/>
              </a:rPr>
              <a:t>Moves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0" name="Shape 12"/>
          <p:cNvSpPr/>
          <p:nvPr/>
        </p:nvSpPr>
        <p:spPr>
          <a:xfrm>
            <a:off x="502920" y="1783080"/>
            <a:ext cx="8228880" cy="547920"/>
          </a:xfrm>
          <a:prstGeom prst="roundRect">
            <a:avLst>
              <a:gd name="adj" fmla="val 11667"/>
            </a:avLst>
          </a:prstGeom>
          <a:solidFill>
            <a:srgbClr val="1e2444"/>
          </a:solidFill>
          <a:ln w="12700">
            <a:solidFill>
              <a:srgbClr val="02809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1" name="Text 13"/>
          <p:cNvSpPr/>
          <p:nvPr/>
        </p:nvSpPr>
        <p:spPr>
          <a:xfrm>
            <a:off x="502920" y="1783080"/>
            <a:ext cx="2285280" cy="54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0152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pc="-1" strike="noStrike">
                <a:solidFill>
                  <a:srgbClr val="cadcfc"/>
                </a:solidFill>
                <a:latin typeface="Calibri"/>
                <a:ea typeface="Calibri"/>
              </a:rPr>
              <a:t>Breadth-First Search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2" name="Text 14"/>
          <p:cNvSpPr/>
          <p:nvPr/>
        </p:nvSpPr>
        <p:spPr>
          <a:xfrm>
            <a:off x="2880360" y="1783080"/>
            <a:ext cx="1828080" cy="54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pc="-1" strike="noStrike">
                <a:solidFill>
                  <a:srgbClr val="cadcfc"/>
                </a:solidFill>
                <a:latin typeface="Calibri"/>
                <a:ea typeface="Calibri"/>
              </a:rPr>
              <a:t>—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3" name="Text 15"/>
          <p:cNvSpPr/>
          <p:nvPr/>
        </p:nvSpPr>
        <p:spPr>
          <a:xfrm>
            <a:off x="4800600" y="1783080"/>
            <a:ext cx="1416600" cy="54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pc="-1" strike="noStrike">
                <a:solidFill>
                  <a:srgbClr val="cadcfc"/>
                </a:solidFill>
                <a:latin typeface="Calibri"/>
                <a:ea typeface="Calibri"/>
              </a:rPr>
              <a:t>160,147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4" name="Text 16"/>
          <p:cNvSpPr/>
          <p:nvPr/>
        </p:nvSpPr>
        <p:spPr>
          <a:xfrm>
            <a:off x="6291000" y="1783080"/>
            <a:ext cx="1416600" cy="54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pc="-1" strike="noStrike">
                <a:solidFill>
                  <a:srgbClr val="cadcfc"/>
                </a:solidFill>
                <a:latin typeface="Calibri"/>
                <a:ea typeface="Calibri"/>
              </a:rPr>
              <a:t>172,568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5" name="Text 17"/>
          <p:cNvSpPr/>
          <p:nvPr/>
        </p:nvSpPr>
        <p:spPr>
          <a:xfrm>
            <a:off x="7781400" y="1783080"/>
            <a:ext cx="950400" cy="54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pc="-1" strike="noStrike">
                <a:solidFill>
                  <a:srgbClr val="cadcfc"/>
                </a:solidFill>
                <a:latin typeface="Calibri"/>
                <a:ea typeface="Calibri"/>
              </a:rPr>
              <a:t>28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6" name="Shape 18"/>
          <p:cNvSpPr/>
          <p:nvPr/>
        </p:nvSpPr>
        <p:spPr>
          <a:xfrm>
            <a:off x="502920" y="2423160"/>
            <a:ext cx="8228880" cy="547920"/>
          </a:xfrm>
          <a:prstGeom prst="roundRect">
            <a:avLst>
              <a:gd name="adj" fmla="val 11667"/>
            </a:avLst>
          </a:prstGeom>
          <a:solidFill>
            <a:srgbClr val="1e2761"/>
          </a:solidFill>
          <a:ln w="12700">
            <a:solidFill>
              <a:srgbClr val="02c39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7" name="Text 19"/>
          <p:cNvSpPr/>
          <p:nvPr/>
        </p:nvSpPr>
        <p:spPr>
          <a:xfrm>
            <a:off x="502920" y="2423160"/>
            <a:ext cx="2285280" cy="54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0152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pc="-1" strike="noStrike">
                <a:solidFill>
                  <a:srgbClr val="cadcfc"/>
                </a:solidFill>
                <a:latin typeface="Calibri"/>
                <a:ea typeface="Calibri"/>
              </a:rPr>
              <a:t>A* Search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8" name="Text 20"/>
          <p:cNvSpPr/>
          <p:nvPr/>
        </p:nvSpPr>
        <p:spPr>
          <a:xfrm>
            <a:off x="2880360" y="2423160"/>
            <a:ext cx="1828080" cy="54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pc="-1" strike="noStrike">
                <a:solidFill>
                  <a:srgbClr val="cadcfc"/>
                </a:solidFill>
                <a:latin typeface="Calibri"/>
                <a:ea typeface="Calibri"/>
              </a:rPr>
              <a:t>Manhattan distance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9" name="Text 21"/>
          <p:cNvSpPr/>
          <p:nvPr/>
        </p:nvSpPr>
        <p:spPr>
          <a:xfrm>
            <a:off x="4800600" y="2423160"/>
            <a:ext cx="1416600" cy="54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pc="-1" strike="noStrike">
                <a:solidFill>
                  <a:srgbClr val="02c39a"/>
                </a:solidFill>
                <a:latin typeface="Calibri"/>
                <a:ea typeface="Calibri"/>
              </a:rPr>
              <a:t>88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0" name="Text 22"/>
          <p:cNvSpPr/>
          <p:nvPr/>
        </p:nvSpPr>
        <p:spPr>
          <a:xfrm>
            <a:off x="6291000" y="2423160"/>
            <a:ext cx="1416600" cy="54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pc="-1" strike="noStrike">
                <a:solidFill>
                  <a:srgbClr val="02c39a"/>
                </a:solidFill>
                <a:latin typeface="Calibri"/>
                <a:ea typeface="Calibri"/>
              </a:rPr>
              <a:t>136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1" name="Text 23"/>
          <p:cNvSpPr/>
          <p:nvPr/>
        </p:nvSpPr>
        <p:spPr>
          <a:xfrm>
            <a:off x="7781400" y="2423160"/>
            <a:ext cx="950400" cy="54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pc="-1" strike="noStrike">
                <a:solidFill>
                  <a:srgbClr val="02c39a"/>
                </a:solidFill>
                <a:latin typeface="Calibri"/>
                <a:ea typeface="Calibri"/>
              </a:rPr>
              <a:t>28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2" name="Shape 24"/>
          <p:cNvSpPr/>
          <p:nvPr/>
        </p:nvSpPr>
        <p:spPr>
          <a:xfrm>
            <a:off x="1280160" y="3154680"/>
            <a:ext cx="2102400" cy="1325160"/>
          </a:xfrm>
          <a:prstGeom prst="roundRect">
            <a:avLst>
              <a:gd name="adj" fmla="val 8276"/>
            </a:avLst>
          </a:prstGeom>
          <a:solidFill>
            <a:srgbClr val="242a4a"/>
          </a:solidFill>
          <a:ln w="12700">
            <a:solidFill>
              <a:srgbClr val="02809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3" name="Text 25"/>
          <p:cNvSpPr/>
          <p:nvPr/>
        </p:nvSpPr>
        <p:spPr>
          <a:xfrm>
            <a:off x="1280160" y="3264480"/>
            <a:ext cx="2102400" cy="63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600" spc="-1" strike="noStrike">
                <a:solidFill>
                  <a:srgbClr val="02c39a"/>
                </a:solidFill>
                <a:latin typeface="Cambria"/>
                <a:ea typeface="Cambria"/>
              </a:rPr>
              <a:t>1,820×</a:t>
            </a:r>
            <a:endParaRPr b="0" lang="en-US" sz="3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4" name="Text 26"/>
          <p:cNvSpPr/>
          <p:nvPr/>
        </p:nvSpPr>
        <p:spPr>
          <a:xfrm>
            <a:off x="1280160" y="3904560"/>
            <a:ext cx="2102400" cy="474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8892b0"/>
                </a:solidFill>
                <a:latin typeface="Calibri"/>
                <a:ea typeface="Calibri"/>
              </a:rPr>
              <a:t>fewer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8892b0"/>
                </a:solidFill>
                <a:latin typeface="Calibri"/>
                <a:ea typeface="Calibri"/>
              </a:rPr>
              <a:t>expansions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5" name="Shape 27"/>
          <p:cNvSpPr/>
          <p:nvPr/>
        </p:nvSpPr>
        <p:spPr>
          <a:xfrm>
            <a:off x="3931920" y="3154680"/>
            <a:ext cx="2102400" cy="1325160"/>
          </a:xfrm>
          <a:prstGeom prst="roundRect">
            <a:avLst>
              <a:gd name="adj" fmla="val 8276"/>
            </a:avLst>
          </a:prstGeom>
          <a:solidFill>
            <a:srgbClr val="242a4a"/>
          </a:solidFill>
          <a:ln w="12700">
            <a:solidFill>
              <a:srgbClr val="02809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6" name="Text 28"/>
          <p:cNvSpPr/>
          <p:nvPr/>
        </p:nvSpPr>
        <p:spPr>
          <a:xfrm>
            <a:off x="3931920" y="3264480"/>
            <a:ext cx="2102400" cy="63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600" spc="-1" strike="noStrike">
                <a:solidFill>
                  <a:srgbClr val="cadcfc"/>
                </a:solidFill>
                <a:latin typeface="Cambria"/>
                <a:ea typeface="Cambria"/>
              </a:rPr>
              <a:t>1,268×</a:t>
            </a:r>
            <a:endParaRPr b="0" lang="en-US" sz="3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7" name="Text 29"/>
          <p:cNvSpPr/>
          <p:nvPr/>
        </p:nvSpPr>
        <p:spPr>
          <a:xfrm>
            <a:off x="3931920" y="3904560"/>
            <a:ext cx="2102400" cy="474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8892b0"/>
                </a:solidFill>
                <a:latin typeface="Calibri"/>
                <a:ea typeface="Calibri"/>
              </a:rPr>
              <a:t>less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8892b0"/>
                </a:solidFill>
                <a:latin typeface="Calibri"/>
                <a:ea typeface="Calibri"/>
              </a:rPr>
              <a:t>memory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8" name="Shape 30"/>
          <p:cNvSpPr/>
          <p:nvPr/>
        </p:nvSpPr>
        <p:spPr>
          <a:xfrm>
            <a:off x="6583680" y="3154680"/>
            <a:ext cx="2102400" cy="1325160"/>
          </a:xfrm>
          <a:prstGeom prst="roundRect">
            <a:avLst>
              <a:gd name="adj" fmla="val 8276"/>
            </a:avLst>
          </a:prstGeom>
          <a:solidFill>
            <a:srgbClr val="242a4a"/>
          </a:solidFill>
          <a:ln w="12700">
            <a:solidFill>
              <a:srgbClr val="02809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9" name="Text 31"/>
          <p:cNvSpPr/>
          <p:nvPr/>
        </p:nvSpPr>
        <p:spPr>
          <a:xfrm>
            <a:off x="6583680" y="3264480"/>
            <a:ext cx="2102400" cy="63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600" spc="-1" strike="noStrike">
                <a:solidFill>
                  <a:srgbClr val="ffffff"/>
                </a:solidFill>
                <a:latin typeface="Cambria"/>
                <a:ea typeface="Cambria"/>
              </a:rPr>
              <a:t>28</a:t>
            </a:r>
            <a:endParaRPr b="0" lang="en-US" sz="3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0" name="Text 32"/>
          <p:cNvSpPr/>
          <p:nvPr/>
        </p:nvSpPr>
        <p:spPr>
          <a:xfrm>
            <a:off x="6583680" y="3904560"/>
            <a:ext cx="2102400" cy="474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8892b0"/>
                </a:solidFill>
                <a:latin typeface="Calibri"/>
                <a:ea typeface="Calibri"/>
              </a:rPr>
              <a:t>moves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8892b0"/>
                </a:solidFill>
                <a:latin typeface="Calibri"/>
                <a:ea typeface="Calibri"/>
              </a:rPr>
              <a:t>(both)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Text 0"/>
          <p:cNvSpPr/>
          <p:nvPr/>
        </p:nvSpPr>
        <p:spPr>
          <a:xfrm>
            <a:off x="502920" y="320040"/>
            <a:ext cx="8228880" cy="54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600" spc="-1" strike="noStrike">
                <a:solidFill>
                  <a:srgbClr val="1e2761"/>
                </a:solidFill>
                <a:latin typeface="Cambria"/>
                <a:ea typeface="Cambria"/>
              </a:rPr>
              <a:t>Discussion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2" name="Text 1"/>
          <p:cNvSpPr/>
          <p:nvPr/>
        </p:nvSpPr>
        <p:spPr>
          <a:xfrm>
            <a:off x="502920" y="868680"/>
            <a:ext cx="8228880" cy="38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600" spc="-1" strike="noStrike">
                <a:solidFill>
                  <a:srgbClr val="028090"/>
                </a:solidFill>
                <a:latin typeface="Calibri"/>
                <a:ea typeface="Calibri"/>
              </a:rPr>
              <a:t>Why does A* expand ~1,820× fewer nodes than BFS?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3" name="Shape 2"/>
          <p:cNvSpPr/>
          <p:nvPr/>
        </p:nvSpPr>
        <p:spPr>
          <a:xfrm>
            <a:off x="502920" y="1417320"/>
            <a:ext cx="8228880" cy="712440"/>
          </a:xfrm>
          <a:prstGeom prst="roundRect">
            <a:avLst>
              <a:gd name="adj" fmla="val 10256"/>
            </a:avLst>
          </a:prstGeom>
          <a:solidFill>
            <a:srgbClr val="eef2fa"/>
          </a:solidFill>
          <a:ln w="12700">
            <a:solidFill>
              <a:srgbClr val="02809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4" name="Shape 3"/>
          <p:cNvSpPr/>
          <p:nvPr/>
        </p:nvSpPr>
        <p:spPr>
          <a:xfrm>
            <a:off x="594360" y="1609200"/>
            <a:ext cx="328320" cy="328320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5" name="Text 4"/>
          <p:cNvSpPr/>
          <p:nvPr/>
        </p:nvSpPr>
        <p:spPr>
          <a:xfrm>
            <a:off x="594360" y="1581840"/>
            <a:ext cx="328320" cy="32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  <a:ea typeface="Calibri"/>
              </a:rPr>
              <a:t>1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6" name="Text 5"/>
          <p:cNvSpPr/>
          <p:nvPr/>
        </p:nvSpPr>
        <p:spPr>
          <a:xfrm>
            <a:off x="1051560" y="1472040"/>
            <a:ext cx="667440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1e2761"/>
                </a:solidFill>
                <a:latin typeface="Calibri"/>
                <a:ea typeface="Calibri"/>
              </a:rPr>
              <a:t>BFS is blind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7" name="Text 6"/>
          <p:cNvSpPr/>
          <p:nvPr/>
        </p:nvSpPr>
        <p:spPr>
          <a:xfrm>
            <a:off x="1051560" y="1746360"/>
            <a:ext cx="6674400" cy="32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0d1321"/>
                </a:solidFill>
                <a:latin typeface="Calibri"/>
                <a:ea typeface="Calibri"/>
              </a:rPr>
              <a:t>Without a heuristic, BFS must explore all states at each depth level. At depth 28 the frontier can hold tens of thousands of states simultaneously.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8" name="Shape 7"/>
          <p:cNvSpPr/>
          <p:nvPr/>
        </p:nvSpPr>
        <p:spPr>
          <a:xfrm>
            <a:off x="502920" y="2221920"/>
            <a:ext cx="8228880" cy="712440"/>
          </a:xfrm>
          <a:prstGeom prst="roundRect">
            <a:avLst>
              <a:gd name="adj" fmla="val 10256"/>
            </a:avLst>
          </a:prstGeom>
          <a:solidFill>
            <a:srgbClr val="e8edf8"/>
          </a:solidFill>
          <a:ln w="12700">
            <a:solidFill>
              <a:srgbClr val="02809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9" name="Shape 8"/>
          <p:cNvSpPr/>
          <p:nvPr/>
        </p:nvSpPr>
        <p:spPr>
          <a:xfrm>
            <a:off x="594360" y="2414160"/>
            <a:ext cx="328320" cy="328320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0" name="Text 9"/>
          <p:cNvSpPr/>
          <p:nvPr/>
        </p:nvSpPr>
        <p:spPr>
          <a:xfrm>
            <a:off x="594360" y="2386440"/>
            <a:ext cx="328320" cy="32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  <a:ea typeface="Calibri"/>
              </a:rPr>
              <a:t>2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1" name="Text 10"/>
          <p:cNvSpPr/>
          <p:nvPr/>
        </p:nvSpPr>
        <p:spPr>
          <a:xfrm>
            <a:off x="1051560" y="2277000"/>
            <a:ext cx="667440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1e2761"/>
                </a:solidFill>
                <a:latin typeface="Calibri"/>
                <a:ea typeface="Calibri"/>
              </a:rPr>
              <a:t>Manhattan distance is tightly informed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2" name="Text 11"/>
          <p:cNvSpPr/>
          <p:nvPr/>
        </p:nvSpPr>
        <p:spPr>
          <a:xfrm>
            <a:off x="1051560" y="2551320"/>
            <a:ext cx="6674400" cy="32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0d1321"/>
                </a:solidFill>
                <a:latin typeface="Calibri"/>
                <a:ea typeface="Calibri"/>
              </a:rPr>
              <a:t>The heuristic closely mirrors the true cost — almost every state it evaluates is on or near the optimal path, so very few dead-end branches are expanded.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3" name="Shape 12"/>
          <p:cNvSpPr/>
          <p:nvPr/>
        </p:nvSpPr>
        <p:spPr>
          <a:xfrm>
            <a:off x="502920" y="3026520"/>
            <a:ext cx="8228880" cy="712440"/>
          </a:xfrm>
          <a:prstGeom prst="roundRect">
            <a:avLst>
              <a:gd name="adj" fmla="val 10256"/>
            </a:avLst>
          </a:prstGeom>
          <a:solidFill>
            <a:srgbClr val="eef2fa"/>
          </a:solidFill>
          <a:ln w="12700">
            <a:solidFill>
              <a:srgbClr val="02809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4" name="Shape 13"/>
          <p:cNvSpPr/>
          <p:nvPr/>
        </p:nvSpPr>
        <p:spPr>
          <a:xfrm>
            <a:off x="594360" y="3218760"/>
            <a:ext cx="328320" cy="328320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5" name="Text 14"/>
          <p:cNvSpPr/>
          <p:nvPr/>
        </p:nvSpPr>
        <p:spPr>
          <a:xfrm>
            <a:off x="594360" y="3191400"/>
            <a:ext cx="328320" cy="32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  <a:ea typeface="Calibri"/>
              </a:rPr>
              <a:t>3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6" name="Text 15"/>
          <p:cNvSpPr/>
          <p:nvPr/>
        </p:nvSpPr>
        <p:spPr>
          <a:xfrm>
            <a:off x="1051560" y="3081600"/>
            <a:ext cx="667440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1e2761"/>
                </a:solidFill>
                <a:latin typeface="Calibri"/>
                <a:ea typeface="Calibri"/>
              </a:rPr>
              <a:t>Same optimal result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7" name="Text 16"/>
          <p:cNvSpPr/>
          <p:nvPr/>
        </p:nvSpPr>
        <p:spPr>
          <a:xfrm>
            <a:off x="1051560" y="3355920"/>
            <a:ext cx="6674400" cy="32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0d1321"/>
                </a:solidFill>
                <a:latin typeface="Calibri"/>
                <a:ea typeface="Calibri"/>
              </a:rPr>
              <a:t>Both algorithms return a 28-move solution. A* achieves this with 88 expansions; admissibility guarantees no shorter path exists.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8" name="Shape 17"/>
          <p:cNvSpPr/>
          <p:nvPr/>
        </p:nvSpPr>
        <p:spPr>
          <a:xfrm>
            <a:off x="502920" y="3831480"/>
            <a:ext cx="8228880" cy="712440"/>
          </a:xfrm>
          <a:prstGeom prst="roundRect">
            <a:avLst>
              <a:gd name="adj" fmla="val 10256"/>
            </a:avLst>
          </a:prstGeom>
          <a:solidFill>
            <a:srgbClr val="e8edf8"/>
          </a:solidFill>
          <a:ln w="12700">
            <a:solidFill>
              <a:srgbClr val="02809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9" name="Shape 18"/>
          <p:cNvSpPr/>
          <p:nvPr/>
        </p:nvSpPr>
        <p:spPr>
          <a:xfrm>
            <a:off x="594360" y="4023360"/>
            <a:ext cx="328320" cy="328320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0" name="Text 19"/>
          <p:cNvSpPr/>
          <p:nvPr/>
        </p:nvSpPr>
        <p:spPr>
          <a:xfrm>
            <a:off x="594360" y="3996000"/>
            <a:ext cx="328320" cy="32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  <a:ea typeface="Calibri"/>
              </a:rPr>
              <a:t>4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1" name="Text 20"/>
          <p:cNvSpPr/>
          <p:nvPr/>
        </p:nvSpPr>
        <p:spPr>
          <a:xfrm>
            <a:off x="1051560" y="3886200"/>
            <a:ext cx="667440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1e2761"/>
                </a:solidFill>
                <a:latin typeface="Calibri"/>
                <a:ea typeface="Calibri"/>
              </a:rPr>
              <a:t>Memory advantage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2" name="Text 21"/>
          <p:cNvSpPr/>
          <p:nvPr/>
        </p:nvSpPr>
        <p:spPr>
          <a:xfrm>
            <a:off x="1051560" y="4160520"/>
            <a:ext cx="6674400" cy="32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0d1321"/>
                </a:solidFill>
                <a:latin typeface="Calibri"/>
                <a:ea typeface="Calibri"/>
              </a:rPr>
              <a:t>A* keeps only 136 nodes in memory vs 172,568 for BFS — a direct consequence of fewer branches explored.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Shape 0"/>
          <p:cNvSpPr/>
          <p:nvPr/>
        </p:nvSpPr>
        <p:spPr>
          <a:xfrm>
            <a:off x="-822960" y="3474720"/>
            <a:ext cx="2742480" cy="2742480"/>
          </a:xfrm>
          <a:prstGeom prst="ellipse">
            <a:avLst/>
          </a:prstGeom>
          <a:solidFill>
            <a:srgbClr val="028090">
              <a:alpha val="25000"/>
            </a:srgbClr>
          </a:solidFill>
          <a:ln w="12700">
            <a:solidFill>
              <a:srgbClr val="028090">
                <a:alpha val="2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4" name="Text 1"/>
          <p:cNvSpPr/>
          <p:nvPr/>
        </p:nvSpPr>
        <p:spPr>
          <a:xfrm>
            <a:off x="502920" y="320040"/>
            <a:ext cx="8228880" cy="54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600" spc="-1" strike="noStrike">
                <a:solidFill>
                  <a:srgbClr val="ffffff"/>
                </a:solidFill>
                <a:latin typeface="Cambria"/>
                <a:ea typeface="Cambria"/>
              </a:rPr>
              <a:t>Summary</a:t>
            </a:r>
            <a:endParaRPr b="0" lang="en-US" sz="3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5" name="Shape 2"/>
          <p:cNvSpPr/>
          <p:nvPr/>
        </p:nvSpPr>
        <p:spPr>
          <a:xfrm>
            <a:off x="502920" y="1143000"/>
            <a:ext cx="8137440" cy="547920"/>
          </a:xfrm>
          <a:prstGeom prst="roundRect">
            <a:avLst>
              <a:gd name="adj" fmla="val 13333"/>
            </a:avLst>
          </a:prstGeom>
          <a:solidFill>
            <a:srgbClr val="242a4a"/>
          </a:solidFill>
          <a:ln w="12700">
            <a:solidFill>
              <a:srgbClr val="33407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6" name="Text 3"/>
          <p:cNvSpPr/>
          <p:nvPr/>
        </p:nvSpPr>
        <p:spPr>
          <a:xfrm>
            <a:off x="594360" y="1143000"/>
            <a:ext cx="456480" cy="54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</a:rPr>
              <a:t>🧩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7" name="Text 4"/>
          <p:cNvSpPr/>
          <p:nvPr/>
        </p:nvSpPr>
        <p:spPr>
          <a:xfrm>
            <a:off x="1143000" y="1143000"/>
            <a:ext cx="7314480" cy="54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pc="-1" strike="noStrike">
                <a:solidFill>
                  <a:srgbClr val="cadcfc"/>
                </a:solidFill>
                <a:latin typeface="Calibri"/>
                <a:ea typeface="Calibri"/>
              </a:rPr>
              <a:t>Implemented BFS and A* from scratch using only Python standard library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8" name="Shape 5"/>
          <p:cNvSpPr/>
          <p:nvPr/>
        </p:nvSpPr>
        <p:spPr>
          <a:xfrm>
            <a:off x="502920" y="1801440"/>
            <a:ext cx="8137440" cy="547920"/>
          </a:xfrm>
          <a:prstGeom prst="roundRect">
            <a:avLst>
              <a:gd name="adj" fmla="val 13333"/>
            </a:avLst>
          </a:prstGeom>
          <a:solidFill>
            <a:srgbClr val="1e2444"/>
          </a:solidFill>
          <a:ln w="12700">
            <a:solidFill>
              <a:srgbClr val="33407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9" name="Text 6"/>
          <p:cNvSpPr/>
          <p:nvPr/>
        </p:nvSpPr>
        <p:spPr>
          <a:xfrm>
            <a:off x="594360" y="1801440"/>
            <a:ext cx="456480" cy="54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</a:rPr>
              <a:t>📐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0" name="Text 7"/>
          <p:cNvSpPr/>
          <p:nvPr/>
        </p:nvSpPr>
        <p:spPr>
          <a:xfrm>
            <a:off x="1143000" y="1801440"/>
            <a:ext cx="7314480" cy="54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pc="-1" strike="noStrike">
                <a:solidFill>
                  <a:srgbClr val="cadcfc"/>
                </a:solidFill>
                <a:latin typeface="Calibri"/>
                <a:ea typeface="Calibri"/>
              </a:rPr>
              <a:t>Manhattan distance is admissible → A* guaranteed to find optimal solution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1" name="Shape 8"/>
          <p:cNvSpPr/>
          <p:nvPr/>
        </p:nvSpPr>
        <p:spPr>
          <a:xfrm>
            <a:off x="502920" y="2459880"/>
            <a:ext cx="8137440" cy="547920"/>
          </a:xfrm>
          <a:prstGeom prst="roundRect">
            <a:avLst>
              <a:gd name="adj" fmla="val 13333"/>
            </a:avLst>
          </a:prstGeom>
          <a:solidFill>
            <a:srgbClr val="242a4a"/>
          </a:solidFill>
          <a:ln w="12700">
            <a:solidFill>
              <a:srgbClr val="33407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2" name="Text 9"/>
          <p:cNvSpPr/>
          <p:nvPr/>
        </p:nvSpPr>
        <p:spPr>
          <a:xfrm>
            <a:off x="594360" y="2459880"/>
            <a:ext cx="456480" cy="54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</a:rPr>
              <a:t>📊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3" name="Text 10"/>
          <p:cNvSpPr/>
          <p:nvPr/>
        </p:nvSpPr>
        <p:spPr>
          <a:xfrm>
            <a:off x="1143000" y="2459880"/>
            <a:ext cx="7314480" cy="54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pc="-1" strike="noStrike">
                <a:solidFill>
                  <a:srgbClr val="cadcfc"/>
                </a:solidFill>
                <a:latin typeface="Calibri"/>
                <a:ea typeface="Calibri"/>
              </a:rPr>
              <a:t>A* expands 1,820× fewer nodes and holds 1,268× less memory than BFS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4" name="Shape 11"/>
          <p:cNvSpPr/>
          <p:nvPr/>
        </p:nvSpPr>
        <p:spPr>
          <a:xfrm>
            <a:off x="502920" y="3117960"/>
            <a:ext cx="8137440" cy="547920"/>
          </a:xfrm>
          <a:prstGeom prst="roundRect">
            <a:avLst>
              <a:gd name="adj" fmla="val 13333"/>
            </a:avLst>
          </a:prstGeom>
          <a:solidFill>
            <a:srgbClr val="1e2444"/>
          </a:solidFill>
          <a:ln w="12700">
            <a:solidFill>
              <a:srgbClr val="33407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5" name="Text 12"/>
          <p:cNvSpPr/>
          <p:nvPr/>
        </p:nvSpPr>
        <p:spPr>
          <a:xfrm>
            <a:off x="594360" y="3117960"/>
            <a:ext cx="456480" cy="54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</a:rPr>
              <a:t>🏁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6" name="Text 13"/>
          <p:cNvSpPr/>
          <p:nvPr/>
        </p:nvSpPr>
        <p:spPr>
          <a:xfrm>
            <a:off x="1143000" y="3117960"/>
            <a:ext cx="7314480" cy="54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pc="-1" strike="noStrike">
                <a:solidFill>
                  <a:srgbClr val="cadcfc"/>
                </a:solidFill>
                <a:latin typeface="Calibri"/>
                <a:ea typeface="Calibri"/>
              </a:rPr>
              <a:t>Both algorithms find the same 26-move optimal solution path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7" name="Shape 14"/>
          <p:cNvSpPr/>
          <p:nvPr/>
        </p:nvSpPr>
        <p:spPr>
          <a:xfrm>
            <a:off x="502920" y="3776400"/>
            <a:ext cx="8137440" cy="547920"/>
          </a:xfrm>
          <a:prstGeom prst="roundRect">
            <a:avLst>
              <a:gd name="adj" fmla="val 13333"/>
            </a:avLst>
          </a:prstGeom>
          <a:solidFill>
            <a:srgbClr val="242a4a"/>
          </a:solidFill>
          <a:ln w="12700">
            <a:solidFill>
              <a:srgbClr val="33407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8" name="Text 15"/>
          <p:cNvSpPr/>
          <p:nvPr/>
        </p:nvSpPr>
        <p:spPr>
          <a:xfrm>
            <a:off x="594360" y="3776400"/>
            <a:ext cx="456480" cy="54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</a:rPr>
              <a:t>⚡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9" name="Text 16"/>
          <p:cNvSpPr/>
          <p:nvPr/>
        </p:nvSpPr>
        <p:spPr>
          <a:xfrm>
            <a:off x="1143000" y="3776400"/>
            <a:ext cx="7314480" cy="54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pc="-1" strike="noStrike">
                <a:solidFill>
                  <a:srgbClr val="cadcfc"/>
                </a:solidFill>
                <a:latin typeface="Calibri"/>
                <a:ea typeface="Calibri"/>
              </a:rPr>
              <a:t>Informed search is dramatically more efficient for complex state spaces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0" name="Text 17"/>
          <p:cNvSpPr/>
          <p:nvPr/>
        </p:nvSpPr>
        <p:spPr>
          <a:xfrm>
            <a:off x="502920" y="4526280"/>
            <a:ext cx="8228880" cy="34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02c39a"/>
                </a:solidFill>
                <a:latin typeface="Cambria"/>
                <a:ea typeface="Cambria"/>
              </a:rPr>
              <a:t>Thank you  ·  Questions?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8</TotalTime>
  <Application>LibreOffice/24.2.7.2$Linux_X86_64 LibreOffice_project/420$Build-2</Application>
  <AppVersion>15.0000</AppVersion>
  <Words>989</Words>
  <Paragraphs>180</Paragraphs>
  <Company>PptxGenJS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2026-07-24T09:49:14Z</dcterms:created>
  <dc:creator>PptxGenJS</dc:creator>
  <dc:description/>
  <dc:language>en-US</dc:language>
  <cp:lastModifiedBy/>
  <dcterms:modified xsi:type="dcterms:W3CDTF">2026-07-26T14:54:29Z</dcterms:modified>
  <cp:revision>5</cp:revision>
  <dc:subject>PptxGenJS Presentation</dc:subject>
  <dc:title>PptxGenJS Presentation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8</vt:i4>
  </property>
  <property fmtid="{D5CDD505-2E9C-101B-9397-08002B2CF9AE}" pid="3" name="PresentationFormat">
    <vt:lpwstr>On-screen Show (16:9)</vt:lpwstr>
  </property>
  <property fmtid="{D5CDD505-2E9C-101B-9397-08002B2CF9AE}" pid="4" name="Slides">
    <vt:i4>8</vt:i4>
  </property>
</Properties>
</file>