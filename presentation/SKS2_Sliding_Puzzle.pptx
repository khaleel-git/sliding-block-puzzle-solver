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7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8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Mention this is KS2.1 from Prof. Wolff's Seminar Cognitive Systems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puzzle setup from the assignment sheet. Highlight that the blank is in the bottom-right of start and top-right of target. Both must count and display: expansions, max memory nodes,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BFS explores the tree level by level. Since every move costs 1, BFS is optimal. The tradeoff is memory — at depth 26 the frontier can be huge.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A* orders the frontier by f(n) = g(n) + h(n). With an admissible heuristic it is optimal. Our heuristic is Manhattan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Manhattan distance for tile 8. Total h for the start state is the sum across all 8 tiles. Admissibility proof: each single move reduces one tile's Manhattan distance by at most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out the numbers. Stress: both find optimal 26-move solution, but A* does it with 88 expansions vs 160,147 for BFS. The heuristic guides A* and avoids exploring the bulk of the search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discussion slide. Emphasize that the heuristic acts as a "compass" — BFS stumbles in the dark while A* walks confidently toward the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by summarizing the key takeaway: heuristics make the difference. A* is a better choice when a good admissible heuristic is available.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731520"/>
            <a:ext cx="2194560" cy="219456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274320"/>
            <a:ext cx="1280160" cy="1280160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4630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463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931152" y="14630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31152" y="1463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44384" y="14630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44384" y="1463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17920" y="21762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931152" y="21762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44384" y="21762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44384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288950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889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931152" y="288950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31152" y="2889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644384" y="288950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A1F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9652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9281160" y="14630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1463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994392" y="14630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94392" y="1463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707624" y="146304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A1F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1762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81160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994392" y="21762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9439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0707624" y="2176272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07624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9281160" y="288950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1160" y="2889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9994392" y="288950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94392" y="2889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10707624" y="288950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07624" y="2889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217920" y="37033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81160" y="37033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Cognitive Systems 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868680"/>
            <a:ext cx="5577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Block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Puzzle Solver</a:t>
            </a:r>
            <a:endParaRPr lang="en-US" sz="4600" dirty="0"/>
          </a:p>
        </p:txBody>
      </p:sp>
      <p:sp>
        <p:nvSpPr>
          <p:cNvPr id="43" name="Text 41"/>
          <p:cNvSpPr/>
          <p:nvPr/>
        </p:nvSpPr>
        <p:spPr>
          <a:xfrm>
            <a:off x="502920" y="26334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vs A* with Manhattan Distance Heuristic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BTU Cottbus-Senftenberg  ·  Problem KS2.1  ·  July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4465" y="548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" y="115214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24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32688" y="109728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sliding block puzzle with 8 numbered tiles and one blank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09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68249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can only slide horizontally or vertically into the blank space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22576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95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226771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reach a specific target configuration in as few moves as possible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285292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implement BFS (uninformed) and A* (informed with admissible heuristic)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49300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343814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node expansions · max nodes in memory · moves in solution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61504" y="121615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State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17230" y="393192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17230" y="393192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921902" y="393192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1902" y="393192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726574" y="393192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574" y="393192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6117230" y="1197864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230" y="1197864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921902" y="1197864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1902" y="1197864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7726574" y="1197864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574" y="1197864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6117230" y="2002536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230" y="2002536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6921902" y="2002536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21902" y="2002536"/>
            <a:ext cx="398080" cy="32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7726574" y="2002536"/>
            <a:ext cx="398080" cy="328553"/>
          </a:xfrm>
          <a:prstGeom prst="roundRect">
            <a:avLst>
              <a:gd name="adj" fmla="val 10976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 rot="5400000">
            <a:off x="7087193" y="2505947"/>
            <a:ext cx="192121" cy="323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→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7461504" y="383133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17230" y="3003934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17230" y="3003934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6921902" y="3003934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21902" y="3003934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7726574" y="3003934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17230" y="3808606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17230" y="3808606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6921902" y="3808606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21902" y="3808606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47" name="Shape 45"/>
          <p:cNvSpPr/>
          <p:nvPr/>
        </p:nvSpPr>
        <p:spPr>
          <a:xfrm>
            <a:off x="7726574" y="3808606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26574" y="3808606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49" name="Shape 47"/>
          <p:cNvSpPr/>
          <p:nvPr/>
        </p:nvSpPr>
        <p:spPr>
          <a:xfrm>
            <a:off x="6117230" y="4613278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17230" y="4613278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51" name="Shape 49"/>
          <p:cNvSpPr/>
          <p:nvPr/>
        </p:nvSpPr>
        <p:spPr>
          <a:xfrm>
            <a:off x="6921902" y="4613278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21902" y="4613278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53" name="Shape 51"/>
          <p:cNvSpPr/>
          <p:nvPr/>
        </p:nvSpPr>
        <p:spPr>
          <a:xfrm>
            <a:off x="7726574" y="4613278"/>
            <a:ext cx="398080" cy="278761"/>
          </a:xfrm>
          <a:prstGeom prst="roundRect">
            <a:avLst>
              <a:gd name="adj" fmla="val 10976"/>
            </a:avLst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26574" y="4613278"/>
            <a:ext cx="398080" cy="278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50292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KS2.1 · Prof. Wolff · BTU Cottbus-Senftenberg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Breadth-First Search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Uninformed Search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24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716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7160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queue (deque) — explores all nodes at depth d before d+1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1E24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0195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1901952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— will always find a solution if one exists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432304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24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43230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243230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for unit-cost steps — shortest path guaranteed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962656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1E24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6265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2962656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O(bᵈ) — exponential in solution depth 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24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930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349300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O(bᵈ) — must store all discovered states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02336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1E24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023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tradeoff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31720" y="402336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optimal solution but consumes large memory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57200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collections.deque  ·  No external search libraries used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Search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Search with Admissible Heuristic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 =  g(n)  +  h(n)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423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cost of the path through 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g(n):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880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cost (number of moves) from start to 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h(n):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3337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estimate from n to goal (admissible)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06440" y="1325880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1888" y="13624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61888" y="1600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(heapq) ordered by f(n)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1984248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2020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61888" y="22585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with admissible heuristic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2642616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1888" y="2679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61888" y="2916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— never overestimates cost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3300984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1888" y="33375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1888" y="35753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far fewer nodes than BFS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06440" y="3959352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1888" y="3995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61888" y="4233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heapq  ·  No external libraries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Admissible Heuristic: Manhattan Distance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h(n) = Σ |rowᵢ − row*ᵢ| + |colᵢ − col*ᵢ|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95681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9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move shifts one tile exactly one step (row or column)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38658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distance counts the minimum moves for each tile ignoring others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980944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89864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overestimates actual moves → h(n) ≤ h*(n) → Admissible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65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4107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tile is excluded (it is not numbered and has no fixed goal position)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914400"/>
            <a:ext cx="2971800" cy="374904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0058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Tile 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28816" y="1463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68312" y="1463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89320" y="200253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28816" y="200253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68312" y="200253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68312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89320" y="254203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28816" y="254203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2881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68312" y="254203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315468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8 is at (0,0) in start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position is (1,2)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|0−1| + |0−2| = 1 + 2 = 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implemented: Misplaced Tiles heuristic (weaker, fewer nodes than BFS but more than Manhattan)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puzzle  ·  python3 main.py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1325880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325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32588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325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1072" y="132588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325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Memory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81544" y="1325880"/>
            <a:ext cx="950976" cy="384048"/>
          </a:xfrm>
          <a:prstGeom prst="roundRect">
            <a:avLst>
              <a:gd name="adj" fmla="val 119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81544" y="132588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1E24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160,147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172,568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81544" y="1783080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2423160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8036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91072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81544" y="2423160"/>
            <a:ext cx="950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80160" y="315468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24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3264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1,820×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280160" y="39044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31920" y="315468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24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3264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1,268×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3931920" y="39044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315468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242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264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583680" y="39044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A* expand ~1,820× fewer nodes than BFS?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93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721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is blind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746504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heuristic, BFS must explore all states at each depth level. At depth 26 the frontier can hold tens of thousands of states simultaneously.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2199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ED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41401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27685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distance is tightly informed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55117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heuristic closely mirrors the true cost — almost every state it evaluates is on or near the optimal path, so very few dead-end branches are expanded.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02666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EF2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21868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0815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optimal result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355848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return a 26-move solution. A* achieves this with 88 expansions; admissibility guarantees no shorter path exists.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83133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ED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23360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8862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advantage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16052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keeps only 136 nodes in memory vs 172,568 for BFS — a direct consequence of fewer branches explored.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474720"/>
            <a:ext cx="2743200" cy="27432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242A4A"/>
          </a:solidFill>
          <a:ln w="12700">
            <a:solidFill>
              <a:srgbClr val="3340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BFS and A* from scratch using only Python standard library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01368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1E2444"/>
          </a:solidFill>
          <a:ln w="12700">
            <a:solidFill>
              <a:srgbClr val="334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013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801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distance is admissible → A* guaranteed to find optimal solution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45973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242A4A"/>
          </a:solidFill>
          <a:ln w="12700">
            <a:solidFill>
              <a:srgbClr val="334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597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4597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expands 1,820× fewer nodes and holds 1,268× less memory than BFS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11810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1E2444"/>
          </a:solidFill>
          <a:ln w="12700">
            <a:solidFill>
              <a:srgbClr val="334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181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1181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find the same 26-move optimal solution path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77647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242A4A"/>
          </a:solidFill>
          <a:ln w="12700">
            <a:solidFill>
              <a:srgbClr val="334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764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7764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search is dramatically more efficient for complex state spaces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526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989</Words>
  <Application>Microsoft Macintosh PowerPoint</Application>
  <PresentationFormat>On-screen Show (16:9)</PresentationFormat>
  <Paragraphs>180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Khaleel Ahmad</cp:lastModifiedBy>
  <cp:revision>2</cp:revision>
  <dcterms:created xsi:type="dcterms:W3CDTF">2026-07-24T09:49:14Z</dcterms:created>
  <dcterms:modified xsi:type="dcterms:W3CDTF">2026-07-24T09:57:54Z</dcterms:modified>
</cp:coreProperties>
</file>