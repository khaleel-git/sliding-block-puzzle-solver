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9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15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8"/>
    <p:restoredTop sz="94610"/>
  </p:normalViewPr>
  <p:slideViewPr>
    <p:cSldViewPr snapToGrid="0" snapToObjects="1">
      <p:cViewPr varScale="1">
        <p:scale>
          <a:sx n="155" d="100"/>
          <a:sy n="155" d="100"/>
        </p:scale>
        <p:origin x="72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  <Relationship Id="rId15" Type="http://schemas.openxmlformats.org/officeDocument/2006/relationships/slide" Target="slides/slide9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18144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Mention this is KS2.1 from Prof. Wolff's Seminar Cognitive Systems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puzzle setup from the assignment sheet. Highlight that the blank is in the bottom-right of start and top-right of target. Both must count and display: expansions, max memory nodes, moves.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BFS explores the tree level by level. Since every move costs 1, BFS is optimal. The tradeoff is memory — at depth 26 the frontier can be huge.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A* orders the frontier by f(n) = g(n) + h(n). With an admissible heuristic it is optimal. Our heuristic is Manhattan distance.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Manhattan distance for tile 8. Total h for the start state is the sum across all 8 tiles. Admissibility proof: each single move reduces one tile's Manhattan distance by at most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out the numbers. Stress: both find optimal 28-move solution, but A* does it with 174 expansions vs 178,223 for BFS. The heuristic guides A* and avoids exploring the bulk of the search 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core discussion slide. Emphasize that the heuristic acts as a "compass" — BFS stumbles in the dark while A* walks confidently toward the goal.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Conclude by summarizing the key takeaway: heuristics make the difference. A* is a better choice when a good admissible heuristic is available. Open the floor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-731520"/>
            <a:ext cx="2194560" cy="2194560"/>
          </a:xfrm>
          <a:prstGeom prst="ellipse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0" y="-274320"/>
            <a:ext cx="1280160" cy="1280160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solidFill>
              <a:srgbClr val="02C39A">
                <a:alpha val="45000"/>
              </a:srgbClr>
            </a:solidFill>
            <a:prstDash val="solid"/>
          </a:ln>
        </p:spPr>
      </p:sp>
      <p:sp>
        <p:nvSpPr>
          <p:cNvPr id="4" name="Shape 4"/>
          <p:cNvSpPr/>
          <p:nvPr/>
        </p:nvSpPr>
        <p:spPr>
          <a:xfrm>
            <a:off x="6150000" y="1500000"/>
            <a:ext cx="370000" cy="370000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5"/>
          <p:cNvSpPr/>
          <p:nvPr/>
        </p:nvSpPr>
        <p:spPr>
          <a:xfrm>
            <a:off x="6150000" y="1500000"/>
            <a:ext cx="370000" cy="3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6" name="Shape 6"/>
          <p:cNvSpPr/>
          <p:nvPr/>
        </p:nvSpPr>
        <p:spPr>
          <a:xfrm>
            <a:off x="6550000" y="1500000"/>
            <a:ext cx="370000" cy="370000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7"/>
          <p:cNvSpPr/>
          <p:nvPr/>
        </p:nvSpPr>
        <p:spPr>
          <a:xfrm>
            <a:off x="6550000" y="1500000"/>
            <a:ext cx="370000" cy="3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8" name="Shape 8"/>
          <p:cNvSpPr/>
          <p:nvPr/>
        </p:nvSpPr>
        <p:spPr>
          <a:xfrm>
            <a:off x="6950000" y="1500000"/>
            <a:ext cx="370000" cy="370000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9"/>
          <p:cNvSpPr/>
          <p:nvPr/>
        </p:nvSpPr>
        <p:spPr>
          <a:xfrm>
            <a:off x="6950000" y="1500000"/>
            <a:ext cx="370000" cy="3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10" name="Shape 10"/>
          <p:cNvSpPr/>
          <p:nvPr/>
        </p:nvSpPr>
        <p:spPr>
          <a:xfrm>
            <a:off x="6150000" y="1900000"/>
            <a:ext cx="370000" cy="370000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11"/>
          <p:cNvSpPr/>
          <p:nvPr/>
        </p:nvSpPr>
        <p:spPr>
          <a:xfrm>
            <a:off x="6150000" y="1900000"/>
            <a:ext cx="370000" cy="3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2" name="Shape 12"/>
          <p:cNvSpPr/>
          <p:nvPr/>
        </p:nvSpPr>
        <p:spPr>
          <a:xfrm>
            <a:off x="6550000" y="1900000"/>
            <a:ext cx="370000" cy="370000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3"/>
          <p:cNvSpPr/>
          <p:nvPr/>
        </p:nvSpPr>
        <p:spPr>
          <a:xfrm>
            <a:off x="6550000" y="1900000"/>
            <a:ext cx="370000" cy="3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4" name="Shape 14"/>
          <p:cNvSpPr/>
          <p:nvPr/>
        </p:nvSpPr>
        <p:spPr>
          <a:xfrm>
            <a:off x="6950000" y="1900000"/>
            <a:ext cx="370000" cy="370000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5"/>
          <p:cNvSpPr/>
          <p:nvPr/>
        </p:nvSpPr>
        <p:spPr>
          <a:xfrm>
            <a:off x="6950000" y="1900000"/>
            <a:ext cx="370000" cy="3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Shape 16"/>
          <p:cNvSpPr/>
          <p:nvPr/>
        </p:nvSpPr>
        <p:spPr>
          <a:xfrm>
            <a:off x="6150000" y="2300000"/>
            <a:ext cx="370000" cy="370000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7"/>
          <p:cNvSpPr/>
          <p:nvPr/>
        </p:nvSpPr>
        <p:spPr>
          <a:xfrm>
            <a:off x="6150000" y="2300000"/>
            <a:ext cx="370000" cy="3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Shape 18"/>
          <p:cNvSpPr/>
          <p:nvPr/>
        </p:nvSpPr>
        <p:spPr>
          <a:xfrm>
            <a:off x="6550000" y="2300000"/>
            <a:ext cx="370000" cy="370000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9"/>
          <p:cNvSpPr/>
          <p:nvPr/>
        </p:nvSpPr>
        <p:spPr>
          <a:xfrm>
            <a:off x="6550000" y="2300000"/>
            <a:ext cx="370000" cy="3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Shape 20"/>
          <p:cNvSpPr/>
          <p:nvPr/>
        </p:nvSpPr>
        <p:spPr>
          <a:xfrm>
            <a:off x="6950000" y="2300000"/>
            <a:ext cx="370000" cy="370000"/>
          </a:xfrm>
          <a:prstGeom prst="roundRect">
            <a:avLst>
              <a:gd name="adj" fmla="val 11111"/>
            </a:avLst>
          </a:prstGeom>
          <a:solidFill>
            <a:srgbClr val="1A1F3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21"/>
          <p:cNvSpPr/>
          <p:nvPr/>
        </p:nvSpPr>
        <p:spPr>
          <a:xfrm>
            <a:off x="7410000" y="1900000"/>
            <a:ext cx="280000" cy="3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22"/>
          <p:cNvSpPr/>
          <p:nvPr/>
        </p:nvSpPr>
        <p:spPr>
          <a:xfrm>
            <a:off x="7780000" y="1500000"/>
            <a:ext cx="370000" cy="370000"/>
          </a:xfrm>
          <a:prstGeom prst="roundRect">
            <a:avLst>
              <a:gd name="adj" fmla="val 11111"/>
            </a:avLst>
          </a:prstGeom>
          <a:solidFill>
            <a:srgbClr val="1A1F3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Shape 23"/>
          <p:cNvSpPr/>
          <p:nvPr/>
        </p:nvSpPr>
        <p:spPr>
          <a:xfrm>
            <a:off x="8180000" y="1500000"/>
            <a:ext cx="370000" cy="370000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4"/>
          <p:cNvSpPr/>
          <p:nvPr/>
        </p:nvSpPr>
        <p:spPr>
          <a:xfrm>
            <a:off x="8180000" y="1500000"/>
            <a:ext cx="370000" cy="3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Shape 25"/>
          <p:cNvSpPr/>
          <p:nvPr/>
        </p:nvSpPr>
        <p:spPr>
          <a:xfrm>
            <a:off x="8580000" y="1500000"/>
            <a:ext cx="370000" cy="370000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6"/>
          <p:cNvSpPr/>
          <p:nvPr/>
        </p:nvSpPr>
        <p:spPr>
          <a:xfrm>
            <a:off x="8580000" y="1500000"/>
            <a:ext cx="370000" cy="3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Shape 27"/>
          <p:cNvSpPr/>
          <p:nvPr/>
        </p:nvSpPr>
        <p:spPr>
          <a:xfrm>
            <a:off x="7780000" y="1900000"/>
            <a:ext cx="370000" cy="370000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8"/>
          <p:cNvSpPr/>
          <p:nvPr/>
        </p:nvSpPr>
        <p:spPr>
          <a:xfrm>
            <a:off x="7780000" y="1900000"/>
            <a:ext cx="370000" cy="3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9" name="Shape 29"/>
          <p:cNvSpPr/>
          <p:nvPr/>
        </p:nvSpPr>
        <p:spPr>
          <a:xfrm>
            <a:off x="8180000" y="1900000"/>
            <a:ext cx="370000" cy="370000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30"/>
          <p:cNvSpPr/>
          <p:nvPr/>
        </p:nvSpPr>
        <p:spPr>
          <a:xfrm>
            <a:off x="8180000" y="1900000"/>
            <a:ext cx="370000" cy="3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Shape 31"/>
          <p:cNvSpPr/>
          <p:nvPr/>
        </p:nvSpPr>
        <p:spPr>
          <a:xfrm>
            <a:off x="8580000" y="1900000"/>
            <a:ext cx="370000" cy="370000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32"/>
          <p:cNvSpPr/>
          <p:nvPr/>
        </p:nvSpPr>
        <p:spPr>
          <a:xfrm>
            <a:off x="8580000" y="1900000"/>
            <a:ext cx="370000" cy="3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Shape 33"/>
          <p:cNvSpPr/>
          <p:nvPr/>
        </p:nvSpPr>
        <p:spPr>
          <a:xfrm>
            <a:off x="7780000" y="2300000"/>
            <a:ext cx="370000" cy="370000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Text 34"/>
          <p:cNvSpPr/>
          <p:nvPr/>
        </p:nvSpPr>
        <p:spPr>
          <a:xfrm>
            <a:off x="7780000" y="2300000"/>
            <a:ext cx="370000" cy="3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5" name="Shape 35"/>
          <p:cNvSpPr/>
          <p:nvPr/>
        </p:nvSpPr>
        <p:spPr>
          <a:xfrm>
            <a:off x="8180000" y="2300000"/>
            <a:ext cx="370000" cy="370000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6" name="Text 36"/>
          <p:cNvSpPr/>
          <p:nvPr/>
        </p:nvSpPr>
        <p:spPr>
          <a:xfrm>
            <a:off x="8180000" y="2300000"/>
            <a:ext cx="370000" cy="3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7" name="Shape 37"/>
          <p:cNvSpPr/>
          <p:nvPr/>
        </p:nvSpPr>
        <p:spPr>
          <a:xfrm>
            <a:off x="8580000" y="2300000"/>
            <a:ext cx="370000" cy="370000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8" name="Text 38"/>
          <p:cNvSpPr/>
          <p:nvPr/>
        </p:nvSpPr>
        <p:spPr>
          <a:xfrm>
            <a:off x="8580000" y="2300000"/>
            <a:ext cx="370000" cy="3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9" name="Text 39"/>
          <p:cNvSpPr/>
          <p:nvPr/>
        </p:nvSpPr>
        <p:spPr>
          <a:xfrm>
            <a:off x="6150000" y="2720000"/>
            <a:ext cx="117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100" dirty="0"/>
          </a:p>
        </p:txBody>
      </p:sp>
      <p:sp>
        <p:nvSpPr>
          <p:cNvPr id="40" name="Text 40"/>
          <p:cNvSpPr/>
          <p:nvPr/>
        </p:nvSpPr>
        <p:spPr>
          <a:xfrm>
            <a:off x="7780000" y="2720000"/>
            <a:ext cx="117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02920" y="411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Seminar Cognitive Systems 2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02920" y="868680"/>
            <a:ext cx="5577840" cy="1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Sliding Block</a:t>
            </a:r>
            <a:endParaRPr lang="en-US" sz="3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Puzzle Solver</a:t>
            </a:r>
            <a:endParaRPr lang="en-US" sz="3800" dirty="0"/>
          </a:p>
        </p:txBody>
      </p:sp>
      <p:sp>
        <p:nvSpPr>
          <p:cNvPr id="43" name="Text 41"/>
          <p:cNvSpPr/>
          <p:nvPr/>
        </p:nvSpPr>
        <p:spPr>
          <a:xfrm>
            <a:off x="502920" y="274320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vs A* with Manhattan Distance Heuristic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0292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BTU Cottbus-Senftenberg  ·  Problem KS2.1  ·  July 28,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64465" y="548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02920" y="1152144"/>
            <a:ext cx="292608" cy="2926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1247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32688" y="1097280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3×3 sliding block puzzle with 8 numbered tiles and one blank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292608" cy="2926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7099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32688" y="1682496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Tiles can only slide horizontally or vertically into the blank space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2322576"/>
            <a:ext cx="292608" cy="2926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2951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32688" y="2267712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reach a specific target configuration in as few moves as possible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2907792"/>
            <a:ext cx="292608" cy="2926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880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32688" y="2852928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implement BFS (uninformed) and A* (informed with admissible heuristic)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3493008"/>
            <a:ext cx="292608" cy="2926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465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32688" y="3438144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Track: node expansions · max nodes in memory · moves in solution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461504" y="1216152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State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17230" y="393192"/>
            <a:ext cx="398080" cy="328553"/>
          </a:xfrm>
          <a:prstGeom prst="roundRect">
            <a:avLst>
              <a:gd name="adj" fmla="val 10976"/>
            </a:avLst>
          </a:prstGeom>
          <a:solidFill>
            <a:srgbClr val="1E2761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17230" y="393192"/>
            <a:ext cx="398080" cy="328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6921902" y="393192"/>
            <a:ext cx="398080" cy="328553"/>
          </a:xfrm>
          <a:prstGeom prst="roundRect">
            <a:avLst>
              <a:gd name="adj" fmla="val 10976"/>
            </a:avLst>
          </a:prstGeom>
          <a:solidFill>
            <a:srgbClr val="1E2761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21902" y="393192"/>
            <a:ext cx="398080" cy="328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7726574" y="393192"/>
            <a:ext cx="398080" cy="328553"/>
          </a:xfrm>
          <a:prstGeom prst="roundRect">
            <a:avLst>
              <a:gd name="adj" fmla="val 10976"/>
            </a:avLst>
          </a:prstGeom>
          <a:solidFill>
            <a:srgbClr val="1E2761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26574" y="393192"/>
            <a:ext cx="398080" cy="328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600" dirty="0"/>
          </a:p>
        </p:txBody>
      </p:sp>
      <p:sp>
        <p:nvSpPr>
          <p:cNvPr id="25" name="Shape 23"/>
          <p:cNvSpPr/>
          <p:nvPr/>
        </p:nvSpPr>
        <p:spPr>
          <a:xfrm>
            <a:off x="6117230" y="1197864"/>
            <a:ext cx="398080" cy="328553"/>
          </a:xfrm>
          <a:prstGeom prst="roundRect">
            <a:avLst>
              <a:gd name="adj" fmla="val 10976"/>
            </a:avLst>
          </a:prstGeom>
          <a:solidFill>
            <a:srgbClr val="1E2761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17230" y="1197864"/>
            <a:ext cx="398080" cy="328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27" name="Shape 25"/>
          <p:cNvSpPr/>
          <p:nvPr/>
        </p:nvSpPr>
        <p:spPr>
          <a:xfrm>
            <a:off x="6921902" y="1197864"/>
            <a:ext cx="398080" cy="328553"/>
          </a:xfrm>
          <a:prstGeom prst="roundRect">
            <a:avLst>
              <a:gd name="adj" fmla="val 10976"/>
            </a:avLst>
          </a:prstGeom>
          <a:solidFill>
            <a:srgbClr val="1E2761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21902" y="1197864"/>
            <a:ext cx="398080" cy="328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29" name="Shape 27"/>
          <p:cNvSpPr/>
          <p:nvPr/>
        </p:nvSpPr>
        <p:spPr>
          <a:xfrm>
            <a:off x="7726574" y="1197864"/>
            <a:ext cx="398080" cy="328553"/>
          </a:xfrm>
          <a:prstGeom prst="roundRect">
            <a:avLst>
              <a:gd name="adj" fmla="val 10976"/>
            </a:avLst>
          </a:prstGeom>
          <a:solidFill>
            <a:srgbClr val="1E2761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26574" y="1197864"/>
            <a:ext cx="398080" cy="328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31" name="Shape 29"/>
          <p:cNvSpPr/>
          <p:nvPr/>
        </p:nvSpPr>
        <p:spPr>
          <a:xfrm>
            <a:off x="6117230" y="2002536"/>
            <a:ext cx="398080" cy="328553"/>
          </a:xfrm>
          <a:prstGeom prst="roundRect">
            <a:avLst>
              <a:gd name="adj" fmla="val 10976"/>
            </a:avLst>
          </a:prstGeom>
          <a:solidFill>
            <a:srgbClr val="1E2761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17230" y="2002536"/>
            <a:ext cx="398080" cy="328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33" name="Shape 31"/>
          <p:cNvSpPr/>
          <p:nvPr/>
        </p:nvSpPr>
        <p:spPr>
          <a:xfrm>
            <a:off x="6921902" y="2002536"/>
            <a:ext cx="398080" cy="328553"/>
          </a:xfrm>
          <a:prstGeom prst="roundRect">
            <a:avLst>
              <a:gd name="adj" fmla="val 10976"/>
            </a:avLst>
          </a:prstGeom>
          <a:solidFill>
            <a:srgbClr val="1E2761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21902" y="2002536"/>
            <a:ext cx="398080" cy="328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35" name="Shape 33"/>
          <p:cNvSpPr/>
          <p:nvPr/>
        </p:nvSpPr>
        <p:spPr>
          <a:xfrm>
            <a:off x="7726574" y="2002536"/>
            <a:ext cx="398080" cy="328553"/>
          </a:xfrm>
          <a:prstGeom prst="roundRect">
            <a:avLst>
              <a:gd name="adj" fmla="val 10976"/>
            </a:avLst>
          </a:prstGeom>
          <a:solidFill>
            <a:srgbClr val="EEF2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 rot="5400000">
            <a:off x="7087193" y="2505947"/>
            <a:ext cx="192121" cy="323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C39A"/>
                </a:solidFill>
              </a:rPr>
              <a:t>→</a:t>
            </a:r>
            <a:endParaRPr lang="en-US" sz="3200" dirty="0"/>
          </a:p>
        </p:txBody>
      </p:sp>
      <p:sp>
        <p:nvSpPr>
          <p:cNvPr id="37" name="Text 35"/>
          <p:cNvSpPr/>
          <p:nvPr/>
        </p:nvSpPr>
        <p:spPr>
          <a:xfrm>
            <a:off x="7461504" y="3831336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State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117230" y="3003934"/>
            <a:ext cx="398080" cy="278761"/>
          </a:xfrm>
          <a:prstGeom prst="roundRect">
            <a:avLst>
              <a:gd name="adj" fmla="val 10976"/>
            </a:avLst>
          </a:prstGeom>
          <a:solidFill>
            <a:srgbClr val="EEF2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921902" y="3003934"/>
            <a:ext cx="398080" cy="278761"/>
          </a:xfrm>
          <a:prstGeom prst="roundRect">
            <a:avLst>
              <a:gd name="adj" fmla="val 10976"/>
            </a:avLst>
          </a:prstGeom>
          <a:solidFill>
            <a:srgbClr val="02C39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21902" y="3003934"/>
            <a:ext cx="398080" cy="278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42" name="Shape 40"/>
          <p:cNvSpPr/>
          <p:nvPr/>
        </p:nvSpPr>
        <p:spPr>
          <a:xfrm>
            <a:off x="7726574" y="3003934"/>
            <a:ext cx="398080" cy="278761"/>
          </a:xfrm>
          <a:prstGeom prst="roundRect">
            <a:avLst>
              <a:gd name="adj" fmla="val 10976"/>
            </a:avLst>
          </a:prstGeom>
          <a:solidFill>
            <a:srgbClr val="02C39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0" name="Text 100"/>
          <p:cNvSpPr/>
          <p:nvPr/>
        </p:nvSpPr>
        <p:spPr>
          <a:xfrm>
            <a:off x="7726574" y="3003934"/>
            <a:ext cx="398080" cy="278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43" name="Shape 41"/>
          <p:cNvSpPr/>
          <p:nvPr/>
        </p:nvSpPr>
        <p:spPr>
          <a:xfrm>
            <a:off x="6117230" y="3808606"/>
            <a:ext cx="398080" cy="278761"/>
          </a:xfrm>
          <a:prstGeom prst="roundRect">
            <a:avLst>
              <a:gd name="adj" fmla="val 10976"/>
            </a:avLst>
          </a:prstGeom>
          <a:solidFill>
            <a:srgbClr val="02C39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17230" y="3808606"/>
            <a:ext cx="398080" cy="278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45" name="Shape 43"/>
          <p:cNvSpPr/>
          <p:nvPr/>
        </p:nvSpPr>
        <p:spPr>
          <a:xfrm>
            <a:off x="6921902" y="3808606"/>
            <a:ext cx="398080" cy="278761"/>
          </a:xfrm>
          <a:prstGeom prst="roundRect">
            <a:avLst>
              <a:gd name="adj" fmla="val 10976"/>
            </a:avLst>
          </a:prstGeom>
          <a:solidFill>
            <a:srgbClr val="02C39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921902" y="3808606"/>
            <a:ext cx="398080" cy="278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47" name="Shape 45"/>
          <p:cNvSpPr/>
          <p:nvPr/>
        </p:nvSpPr>
        <p:spPr>
          <a:xfrm>
            <a:off x="7726574" y="3808606"/>
            <a:ext cx="398080" cy="278761"/>
          </a:xfrm>
          <a:prstGeom prst="roundRect">
            <a:avLst>
              <a:gd name="adj" fmla="val 10976"/>
            </a:avLst>
          </a:prstGeom>
          <a:solidFill>
            <a:srgbClr val="02C39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26574" y="3808606"/>
            <a:ext cx="398080" cy="278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49" name="Shape 47"/>
          <p:cNvSpPr/>
          <p:nvPr/>
        </p:nvSpPr>
        <p:spPr>
          <a:xfrm>
            <a:off x="6117230" y="4613278"/>
            <a:ext cx="398080" cy="278761"/>
          </a:xfrm>
          <a:prstGeom prst="roundRect">
            <a:avLst>
              <a:gd name="adj" fmla="val 10976"/>
            </a:avLst>
          </a:prstGeom>
          <a:solidFill>
            <a:srgbClr val="02C39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17230" y="4613278"/>
            <a:ext cx="398080" cy="278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600" dirty="0"/>
          </a:p>
        </p:txBody>
      </p:sp>
      <p:sp>
        <p:nvSpPr>
          <p:cNvPr id="51" name="Shape 49"/>
          <p:cNvSpPr/>
          <p:nvPr/>
        </p:nvSpPr>
        <p:spPr>
          <a:xfrm>
            <a:off x="6921902" y="4613278"/>
            <a:ext cx="398080" cy="278761"/>
          </a:xfrm>
          <a:prstGeom prst="roundRect">
            <a:avLst>
              <a:gd name="adj" fmla="val 10976"/>
            </a:avLst>
          </a:prstGeom>
          <a:solidFill>
            <a:srgbClr val="02C39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921902" y="4613278"/>
            <a:ext cx="398080" cy="278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600" dirty="0"/>
          </a:p>
        </p:txBody>
      </p:sp>
      <p:sp>
        <p:nvSpPr>
          <p:cNvPr id="53" name="Shape 51"/>
          <p:cNvSpPr/>
          <p:nvPr/>
        </p:nvSpPr>
        <p:spPr>
          <a:xfrm>
            <a:off x="7726574" y="4613278"/>
            <a:ext cx="398080" cy="278761"/>
          </a:xfrm>
          <a:prstGeom prst="roundRect">
            <a:avLst>
              <a:gd name="adj" fmla="val 10976"/>
            </a:avLst>
          </a:prstGeom>
          <a:solidFill>
            <a:srgbClr val="02C39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726574" y="4613278"/>
            <a:ext cx="398080" cy="278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600" dirty="0"/>
          </a:p>
        </p:txBody>
      </p:sp>
      <p:sp>
        <p:nvSpPr>
          <p:cNvPr id="55" name="Text 53"/>
          <p:cNvSpPr/>
          <p:nvPr/>
        </p:nvSpPr>
        <p:spPr>
          <a:xfrm>
            <a:off x="502920" y="46634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KS2.1 · Prof. Wolff · BTU Cottbus-Senftenberg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Breadth-First Search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Uninformed Search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229600" cy="438912"/>
          </a:xfrm>
          <a:prstGeom prst="roundRect">
            <a:avLst>
              <a:gd name="adj" fmla="val 12500"/>
            </a:avLst>
          </a:prstGeom>
          <a:solidFill>
            <a:srgbClr val="242A4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37160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331720" y="1371600"/>
            <a:ext cx="6217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 queue (deque) — explores all nodes at depth d before d+1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901952"/>
            <a:ext cx="8229600" cy="438912"/>
          </a:xfrm>
          <a:prstGeom prst="roundRect">
            <a:avLst>
              <a:gd name="adj" fmla="val 12500"/>
            </a:avLst>
          </a:prstGeom>
          <a:solidFill>
            <a:srgbClr val="1E2444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901952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331720" y="1901952"/>
            <a:ext cx="6217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— will always find a solution if one exists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432304"/>
            <a:ext cx="8229600" cy="438912"/>
          </a:xfrm>
          <a:prstGeom prst="roundRect">
            <a:avLst>
              <a:gd name="adj" fmla="val 12500"/>
            </a:avLst>
          </a:prstGeom>
          <a:solidFill>
            <a:srgbClr val="242A4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432304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Optimality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331720" y="2432304"/>
            <a:ext cx="6217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for unit-cost steps — shortest path guaranteed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2962656"/>
            <a:ext cx="8229600" cy="438912"/>
          </a:xfrm>
          <a:prstGeom prst="roundRect">
            <a:avLst>
              <a:gd name="adj" fmla="val 12500"/>
            </a:avLst>
          </a:prstGeom>
          <a:solidFill>
            <a:srgbClr val="1E2444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962656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complexity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331720" y="2962656"/>
            <a:ext cx="6217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O(bᵈ) — exponential in solution depth 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3493008"/>
            <a:ext cx="8229600" cy="438912"/>
          </a:xfrm>
          <a:prstGeom prst="roundRect">
            <a:avLst>
              <a:gd name="adj" fmla="val 12500"/>
            </a:avLst>
          </a:prstGeom>
          <a:solidFill>
            <a:srgbClr val="242A4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349300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complexity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331720" y="3493008"/>
            <a:ext cx="6217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O(bᵈ) — must store all discovered states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" y="4023360"/>
            <a:ext cx="8229600" cy="438912"/>
          </a:xfrm>
          <a:prstGeom prst="roundRect">
            <a:avLst>
              <a:gd name="adj" fmla="val 12500"/>
            </a:avLst>
          </a:prstGeom>
          <a:solidFill>
            <a:srgbClr val="1E2444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402336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tradeoff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331720" y="4023360"/>
            <a:ext cx="6217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optimal solution but consumes large memory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2920" y="4572000"/>
            <a:ext cx="8229600" cy="347472"/>
          </a:xfrm>
          <a:prstGeom prst="roundRect">
            <a:avLst>
              <a:gd name="adj" fmla="val 13158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5720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Implementation: collections.deque  ·  No external search libraries used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A* Search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Informed Search with Admissible Heuristic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5074920" cy="960120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25880"/>
            <a:ext cx="5074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f(n)  =  g(n)  +  h(n)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242316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f(n):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54480" y="24231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estimated cost of the path through 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88036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g(n):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554480" y="28803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cost (number of moves) from start to 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333756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h(n):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54480" y="33375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estimate from n to goal (admissible)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806440" y="1325880"/>
            <a:ext cx="2926080" cy="566928"/>
          </a:xfrm>
          <a:prstGeom prst="roundRect">
            <a:avLst>
              <a:gd name="adj" fmla="val 11290"/>
            </a:avLst>
          </a:prstGeom>
          <a:solidFill>
            <a:srgbClr val="EEF2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61888" y="13624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61888" y="160020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Min-heap (heapq) ordered by f(n)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806440" y="1984248"/>
            <a:ext cx="2926080" cy="566928"/>
          </a:xfrm>
          <a:prstGeom prst="roundRect">
            <a:avLst>
              <a:gd name="adj" fmla="val 11290"/>
            </a:avLst>
          </a:prstGeom>
          <a:solidFill>
            <a:srgbClr val="EEF2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61888" y="202082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61888" y="225856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with admissible heuristic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806440" y="2642616"/>
            <a:ext cx="2926080" cy="566928"/>
          </a:xfrm>
          <a:prstGeom prst="roundRect">
            <a:avLst>
              <a:gd name="adj" fmla="val 11290"/>
            </a:avLst>
          </a:prstGeom>
          <a:solidFill>
            <a:srgbClr val="EEF2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61888" y="267919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Optimality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61888" y="291693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— never overestimates cost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806440" y="3300984"/>
            <a:ext cx="2926080" cy="566928"/>
          </a:xfrm>
          <a:prstGeom prst="roundRect">
            <a:avLst>
              <a:gd name="adj" fmla="val 11290"/>
            </a:avLst>
          </a:prstGeom>
          <a:solidFill>
            <a:srgbClr val="EEF2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61888" y="333756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61888" y="357530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Expands far fewer nodes than BFS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806440" y="3959352"/>
            <a:ext cx="2926080" cy="566928"/>
          </a:xfrm>
          <a:prstGeom prst="roundRect">
            <a:avLst>
              <a:gd name="adj" fmla="val 11290"/>
            </a:avLst>
          </a:prstGeom>
          <a:solidFill>
            <a:srgbClr val="EEF2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61888" y="399592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961888" y="42336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heapq  ·  No external libraries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Admissible Heuristic: Manhattan Distance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005840"/>
            <a:ext cx="5120640" cy="685800"/>
          </a:xfrm>
          <a:prstGeom prst="roundRect">
            <a:avLst>
              <a:gd name="adj" fmla="val 10667"/>
            </a:avLst>
          </a:prstGeom>
          <a:solidFill>
            <a:srgbClr val="1E2761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0584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h(n) = Σ |rowᵢ − row*ᵢ| + |colᵢ − col*ᵢ|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2920" y="1956816"/>
            <a:ext cx="274320" cy="2743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9293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874520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move shifts one tile exactly one step (row or column)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468880"/>
            <a:ext cx="274320" cy="2743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4414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2386584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Manhattan distance counts the minimum moves for each tile ignoring others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980944"/>
            <a:ext cx="274320" cy="2743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953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898648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never overestimates actual moves → h(n) ≤ h*(n) → Admissible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3493008"/>
            <a:ext cx="274320" cy="2743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4655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3410712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tile is excluded (it is not numbered and has no fixed goal position)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760720" y="914400"/>
            <a:ext cx="2971800" cy="3749040"/>
          </a:xfrm>
          <a:prstGeom prst="roundRect">
            <a:avLst>
              <a:gd name="adj" fmla="val 3077"/>
            </a:avLst>
          </a:prstGeom>
          <a:solidFill>
            <a:srgbClr val="EEF2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97880" y="100584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Tile 8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989320" y="14630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8932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528816" y="14630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28816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068312" y="14630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68312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989320" y="2002536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89320" y="20025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528816" y="2002536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28816" y="20025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068312" y="2002536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68312" y="20025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989320" y="2542032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89320" y="2542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528816" y="2542032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28816" y="2542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068312" y="2542032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4F6FB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97880" y="3154680"/>
            <a:ext cx="2697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 8 is at (0,0) in start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position is (2,2)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|0−2| + |0−2| = 2 + 2 = 4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0292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implemented: Misplaced Tiles heuristic (weaker, fewer nodes than BFS but more than Manhattan)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Experimental Results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puzzle  ·  python3 main.py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2286000" cy="384048"/>
          </a:xfrm>
          <a:prstGeom prst="roundRect">
            <a:avLst>
              <a:gd name="adj" fmla="val 1190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258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880360" y="1325880"/>
            <a:ext cx="1828800" cy="384048"/>
          </a:xfrm>
          <a:prstGeom prst="roundRect">
            <a:avLst>
              <a:gd name="adj" fmla="val 1190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80360" y="13258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00600" y="1325880"/>
            <a:ext cx="1417320" cy="384048"/>
          </a:xfrm>
          <a:prstGeom prst="roundRect">
            <a:avLst>
              <a:gd name="adj" fmla="val 1190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132588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91072" y="1325880"/>
            <a:ext cx="1417320" cy="384048"/>
          </a:xfrm>
          <a:prstGeom prst="roundRect">
            <a:avLst>
              <a:gd name="adj" fmla="val 1190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91072" y="132588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Memory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81544" y="1325880"/>
            <a:ext cx="950976" cy="384048"/>
          </a:xfrm>
          <a:prstGeom prst="roundRect">
            <a:avLst>
              <a:gd name="adj" fmla="val 1190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81544" y="1325880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1783080"/>
            <a:ext cx="8229600" cy="548640"/>
          </a:xfrm>
          <a:prstGeom prst="roundRect">
            <a:avLst>
              <a:gd name="adj" fmla="val 11667"/>
            </a:avLst>
          </a:prstGeom>
          <a:solidFill>
            <a:srgbClr val="1E2444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783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Breadth-First Search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880360" y="1783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00600" y="17830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178,223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91072" y="17830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180,899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81544" y="1783080"/>
            <a:ext cx="950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2423160"/>
            <a:ext cx="8229600" cy="548640"/>
          </a:xfrm>
          <a:prstGeom prst="roundRect">
            <a:avLst>
              <a:gd name="adj" fmla="val 11667"/>
            </a:avLst>
          </a:prstGeom>
          <a:solidFill>
            <a:srgbClr val="1E2761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423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Search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880360" y="24231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Manhattan distance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00600" y="242316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91072" y="242316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266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781544" y="2423160"/>
            <a:ext cx="950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280160" y="3154680"/>
            <a:ext cx="2103120" cy="1325880"/>
          </a:xfrm>
          <a:prstGeom prst="roundRect">
            <a:avLst>
              <a:gd name="adj" fmla="val 8276"/>
            </a:avLst>
          </a:prstGeom>
          <a:solidFill>
            <a:srgbClr val="242A4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80160" y="326440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1,024×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1280160" y="3904488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931920" y="3154680"/>
            <a:ext cx="2103120" cy="1325880"/>
          </a:xfrm>
          <a:prstGeom prst="roundRect">
            <a:avLst>
              <a:gd name="adj" fmla="val 8276"/>
            </a:avLst>
          </a:prstGeom>
          <a:solidFill>
            <a:srgbClr val="242A4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31920" y="326440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680×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3931920" y="3904488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583680" y="3154680"/>
            <a:ext cx="2103120" cy="1325880"/>
          </a:xfrm>
          <a:prstGeom prst="roundRect">
            <a:avLst>
              <a:gd name="adj" fmla="val 8276"/>
            </a:avLst>
          </a:prstGeom>
          <a:solidFill>
            <a:srgbClr val="242A4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0" y="326440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3600" dirty="0"/>
          </a:p>
        </p:txBody>
      </p:sp>
      <p:sp>
        <p:nvSpPr>
          <p:cNvPr id="34" name="Text 32"/>
          <p:cNvSpPr/>
          <p:nvPr/>
        </p:nvSpPr>
        <p:spPr>
          <a:xfrm>
            <a:off x="6583680" y="3904488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(both)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A* expand ~1,024× fewer nodes than BFS?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EF2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09344"/>
            <a:ext cx="329184" cy="3291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819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147218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is blind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746504"/>
            <a:ext cx="6675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heuristic, BFS must explore all states at each depth level. At depth 28 the frontier can hold tens of thousands of states simultaneously.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221992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8EDF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2414016"/>
            <a:ext cx="329184" cy="3291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865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2276856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Manhattan distance is tightly informed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2551176"/>
            <a:ext cx="6675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heuristic closely mirrors the true cost — almost every state it evaluates is on or near the optimal path, so very few dead-end branches are expanded.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026664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EF2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" y="3218688"/>
            <a:ext cx="329184" cy="3291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1912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51560" y="3081528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optimal result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3355848"/>
            <a:ext cx="6675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algorithms return a 28-move solution. A* achieves this with 174 expansions; admissibility guarantees no shorter path exists.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3831336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8EDF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4023360"/>
            <a:ext cx="329184" cy="3291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9959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51560" y="388620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advantage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51560" y="4160520"/>
            <a:ext cx="6675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keeps only 266 nodes in memory vs 180,899 for BFS — a direct consequence of fewer branches explored.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22960" y="3474720"/>
            <a:ext cx="2743200" cy="2743200"/>
          </a:xfrm>
          <a:prstGeom prst="ellipse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8138160" cy="548640"/>
          </a:xfrm>
          <a:prstGeom prst="roundRect">
            <a:avLst>
              <a:gd name="adj" fmla="val 13333"/>
            </a:avLst>
          </a:prstGeom>
          <a:solidFill>
            <a:srgbClr val="242A4A"/>
          </a:solidFill>
          <a:ln w="12700">
            <a:solidFill>
              <a:srgbClr val="3340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430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🧩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11430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BFS and A* from scratch using only Python standard library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801368"/>
            <a:ext cx="8138160" cy="548640"/>
          </a:xfrm>
          <a:prstGeom prst="roundRect">
            <a:avLst>
              <a:gd name="adj" fmla="val 13333"/>
            </a:avLst>
          </a:prstGeom>
          <a:solidFill>
            <a:srgbClr val="1E2444"/>
          </a:solidFill>
          <a:ln w="12700">
            <a:solidFill>
              <a:srgbClr val="3340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80136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📐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180136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Manhattan distance is admissible → A* guaranteed to find optimal solution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2459736"/>
            <a:ext cx="8138160" cy="548640"/>
          </a:xfrm>
          <a:prstGeom prst="roundRect">
            <a:avLst>
              <a:gd name="adj" fmla="val 13333"/>
            </a:avLst>
          </a:prstGeom>
          <a:solidFill>
            <a:srgbClr val="242A4A"/>
          </a:solidFill>
          <a:ln w="12700">
            <a:solidFill>
              <a:srgbClr val="3340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45973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43000" y="2459736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expands 1,024× fewer nodes and holds 680× less memory than BFS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3118104"/>
            <a:ext cx="8138160" cy="548640"/>
          </a:xfrm>
          <a:prstGeom prst="roundRect">
            <a:avLst>
              <a:gd name="adj" fmla="val 13333"/>
            </a:avLst>
          </a:prstGeom>
          <a:solidFill>
            <a:srgbClr val="1E2444"/>
          </a:solidFill>
          <a:ln w="12700">
            <a:solidFill>
              <a:srgbClr val="33407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11810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🏁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43000" y="311810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algorithms find the same 28-move optimal solution path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" y="3776472"/>
            <a:ext cx="8138160" cy="548640"/>
          </a:xfrm>
          <a:prstGeom prst="roundRect">
            <a:avLst>
              <a:gd name="adj" fmla="val 13333"/>
            </a:avLst>
          </a:prstGeom>
          <a:solidFill>
            <a:srgbClr val="242A4A"/>
          </a:solidFill>
          <a:ln w="12700">
            <a:solidFill>
              <a:srgbClr val="33407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776472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43000" y="377647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Informed search is dramatically more efficient for complex state spaces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45262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 ·  Questions?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from the actual running application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12649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Breadth-First Search — solved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709160" y="12649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Search — solved</a:t>
            </a:r>
            <a:endParaRPr lang="en-US" sz="1600" dirty="0"/>
          </a:p>
        </p:txBody>
      </p:sp>
      <p:pic>
        <p:nvPicPr>
          <p:cNvPr id="6" name="BFS 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15440"/>
            <a:ext cx="3931920" cy="2747988"/>
          </a:xfrm>
          <a:prstGeom prst="roundRect">
            <a:avLst>
              <a:gd name="adj" fmla="val 3000"/>
            </a:avLst>
          </a:prstGeom>
          <a:ln w="12700">
            <a:solidFill>
              <a:srgbClr val="028090"/>
            </a:solidFill>
          </a:ln>
        </p:spPr>
      </p:pic>
      <p:pic>
        <p:nvPicPr>
          <p:cNvPr id="7" name="A Star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615440"/>
            <a:ext cx="3931920" cy="2747988"/>
          </a:xfrm>
          <a:prstGeom prst="roundRect">
            <a:avLst>
              <a:gd name="adj" fmla="val 3000"/>
            </a:avLst>
          </a:prstGeom>
          <a:ln w="12700">
            <a:solidFill>
              <a:srgbClr val="02C39A"/>
            </a:solidFill>
          </a:ln>
        </p:spPr>
      </p:pic>
      <p:sp>
        <p:nvSpPr>
          <p:cNvPr id="8" name="Text 4"/>
          <p:cNvSpPr/>
          <p:nvPr/>
        </p:nvSpPr>
        <p:spPr>
          <a:xfrm>
            <a:off x="502920" y="448056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28-move solution, same start/target puzzle · values match Experimental Results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989</Words>
  <Application>Microsoft Macintosh PowerPoint</Application>
  <PresentationFormat>On-screen Show (16:9)</PresentationFormat>
  <Paragraphs>180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Khaleel Ahmad</cp:lastModifiedBy>
  <cp:revision>2</cp:revision>
  <dcterms:created xsi:type="dcterms:W3CDTF">2026-07-24T09:49:14Z</dcterms:created>
  <dcterms:modified xsi:type="dcterms:W3CDTF">2026-07-24T09:57:54Z</dcterms:modified>
</cp:coreProperties>
</file>